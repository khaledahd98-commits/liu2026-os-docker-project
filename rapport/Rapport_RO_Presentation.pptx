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5C63"/>
        </a:solidFill>
      </p:bgPr>
    </p:bg>
    <p:spTree>
      <p:nvGrpSpPr>
        <p:cNvPr id="1" name=""/>
        <p:cNvGrpSpPr/>
        <p:nvPr/>
      </p:nvGrpSpPr>
      <p:grpSpPr>
        <a:xfrm>
          <a:off x="0" y="0"/>
          <a:ext cx="0" cy="0"/>
          <a:chOff x="0" y="0"/>
          <a:chExt cx="0" cy="0"/>
        </a:xfrm>
      </p:grpSpPr>
      <p:sp>
        <p:nvSpPr>
          <p:cNvPr id="2" name="Shape 0"/>
          <p:cNvSpPr/>
          <p:nvPr/>
        </p:nvSpPr>
        <p:spPr>
          <a:xfrm>
            <a:off x="9692640" y="4206240"/>
            <a:ext cx="3840480" cy="3840480"/>
          </a:xfrm>
          <a:prstGeom prst="ellipse">
            <a:avLst/>
          </a:prstGeom>
          <a:solidFill>
            <a:srgbClr val="028090">
              <a:alpha val="45000"/>
            </a:srgbClr>
          </a:solidFill>
          <a:ln/>
        </p:spPr>
      </p:sp>
      <p:sp>
        <p:nvSpPr>
          <p:cNvPr id="3" name="Shape 1"/>
          <p:cNvSpPr/>
          <p:nvPr/>
        </p:nvSpPr>
        <p:spPr>
          <a:xfrm>
            <a:off x="10607040" y="5120640"/>
            <a:ext cx="2377440" cy="2377440"/>
          </a:xfrm>
          <a:prstGeom prst="ellipse">
            <a:avLst/>
          </a:prstGeom>
          <a:solidFill>
            <a:srgbClr val="00A896">
              <a:alpha val="60000"/>
            </a:srgbClr>
          </a:solidFill>
          <a:ln/>
        </p:spPr>
      </p:sp>
      <p:sp>
        <p:nvSpPr>
          <p:cNvPr id="4" name="Text 2"/>
          <p:cNvSpPr/>
          <p:nvPr/>
        </p:nvSpPr>
        <p:spPr>
          <a:xfrm>
            <a:off x="640080" y="502920"/>
            <a:ext cx="8229600" cy="320040"/>
          </a:xfrm>
          <a:prstGeom prst="rect">
            <a:avLst/>
          </a:prstGeom>
          <a:noFill/>
          <a:ln/>
        </p:spPr>
        <p:txBody>
          <a:bodyPr wrap="square" lIns="0" tIns="0" rIns="0" bIns="0" rtlCol="0" anchor="ctr"/>
          <a:lstStyle/>
          <a:p>
            <a:pPr indent="0" marL="0">
              <a:buNone/>
            </a:pPr>
            <a:r>
              <a:rPr lang="en-US" sz="1200" b="1" spc="150" kern="0" dirty="0">
                <a:solidFill>
                  <a:srgbClr val="BFE3E1"/>
                </a:solidFill>
                <a:latin typeface="Calibri" pitchFamily="34" charset="0"/>
                <a:ea typeface="Calibri" pitchFamily="34" charset="-122"/>
                <a:cs typeface="Calibri" pitchFamily="34" charset="-120"/>
              </a:rPr>
              <a:t>UNIVERSITÉ LIBANAISE INTERNATIONALE EN MAURITANIE</a:t>
            </a:r>
            <a:endParaRPr lang="en-US" sz="1200" dirty="0"/>
          </a:p>
        </p:txBody>
      </p:sp>
      <p:sp>
        <p:nvSpPr>
          <p:cNvPr id="5" name="Text 3"/>
          <p:cNvSpPr/>
          <p:nvPr/>
        </p:nvSpPr>
        <p:spPr>
          <a:xfrm>
            <a:off x="640080" y="822960"/>
            <a:ext cx="8229600" cy="274320"/>
          </a:xfrm>
          <a:prstGeom prst="rect">
            <a:avLst/>
          </a:prstGeom>
          <a:noFill/>
          <a:ln/>
        </p:spPr>
        <p:txBody>
          <a:bodyPr wrap="square" lIns="0" tIns="0" rIns="0" bIns="0" rtlCol="0" anchor="ctr"/>
          <a:lstStyle/>
          <a:p>
            <a:pPr indent="0" marL="0">
              <a:buNone/>
            </a:pPr>
            <a:r>
              <a:rPr lang="en-US" sz="1200" dirty="0">
                <a:solidFill>
                  <a:srgbClr val="9FCFCD"/>
                </a:solidFill>
                <a:latin typeface="Calibri" pitchFamily="34" charset="0"/>
                <a:ea typeface="Calibri" pitchFamily="34" charset="-122"/>
                <a:cs typeface="Calibri" pitchFamily="34" charset="-120"/>
              </a:rPr>
              <a:t>Faculté des Sciences</a:t>
            </a:r>
            <a:endParaRPr lang="en-US" sz="1200" dirty="0"/>
          </a:p>
        </p:txBody>
      </p:sp>
      <p:pic>
        <p:nvPicPr>
          <p:cNvPr id="6" name="Image 0" descr="icon_truck.png">    </p:cNvPr>
          <p:cNvPicPr>
            <a:picLocks noChangeAspect="1"/>
          </p:cNvPicPr>
          <p:nvPr/>
        </p:nvPicPr>
        <p:blipFill>
          <a:blip r:embed="rId1"/>
          <a:stretch>
            <a:fillRect/>
          </a:stretch>
        </p:blipFill>
        <p:spPr>
          <a:xfrm>
            <a:off x="640080" y="2606040"/>
            <a:ext cx="822960" cy="822960"/>
          </a:xfrm>
          <a:prstGeom prst="rect">
            <a:avLst/>
          </a:prstGeom>
        </p:spPr>
      </p:pic>
      <p:sp>
        <p:nvSpPr>
          <p:cNvPr id="7" name="Text 4"/>
          <p:cNvSpPr/>
          <p:nvPr/>
        </p:nvSpPr>
        <p:spPr>
          <a:xfrm>
            <a:off x="594360" y="3566160"/>
            <a:ext cx="91440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Rapport RO</a:t>
            </a:r>
            <a:endParaRPr lang="en-US" sz="5400" dirty="0"/>
          </a:p>
        </p:txBody>
      </p:sp>
      <p:sp>
        <p:nvSpPr>
          <p:cNvPr id="8" name="Text 5"/>
          <p:cNvSpPr/>
          <p:nvPr/>
        </p:nvSpPr>
        <p:spPr>
          <a:xfrm>
            <a:off x="640080" y="4617720"/>
            <a:ext cx="8686800" cy="548640"/>
          </a:xfrm>
          <a:prstGeom prst="rect">
            <a:avLst/>
          </a:prstGeom>
          <a:noFill/>
          <a:ln/>
        </p:spPr>
        <p:txBody>
          <a:bodyPr wrap="square" lIns="0" tIns="0" rIns="0" bIns="0" rtlCol="0" anchor="ctr"/>
          <a:lstStyle/>
          <a:p>
            <a:pPr indent="0" marL="0">
              <a:buNone/>
            </a:pPr>
            <a:r>
              <a:rPr lang="en-US" sz="1600" i="1" dirty="0">
                <a:solidFill>
                  <a:srgbClr val="CFEDEA"/>
                </a:solidFill>
                <a:latin typeface="Calibri" pitchFamily="34" charset="0"/>
                <a:ea typeface="Calibri" pitchFamily="34" charset="-122"/>
                <a:cs typeface="Calibri" pitchFamily="34" charset="-120"/>
              </a:rPr>
              <a:t>Optimisation du transport &amp; introduction au problème de tournées de véhicules (VRP)</a:t>
            </a:r>
            <a:endParaRPr lang="en-US" sz="1600" dirty="0"/>
          </a:p>
        </p:txBody>
      </p:sp>
      <p:sp>
        <p:nvSpPr>
          <p:cNvPr id="9" name="Text 6"/>
          <p:cNvSpPr/>
          <p:nvPr/>
        </p:nvSpPr>
        <p:spPr>
          <a:xfrm>
            <a:off x="640080" y="5943600"/>
            <a:ext cx="7315200" cy="548640"/>
          </a:xfrm>
          <a:prstGeom prst="rect">
            <a:avLst/>
          </a:prstGeom>
          <a:noFill/>
          <a:ln/>
        </p:spPr>
        <p:txBody>
          <a:bodyPr wrap="square" lIns="0" tIns="0" rIns="0" bIns="0" rtlCol="0" anchor="ctr"/>
          <a:lstStyle/>
          <a:p>
            <a:pPr indent="0" marL="0">
              <a:buNone/>
            </a:pPr>
            <a:r>
              <a:rPr lang="en-US" sz="1300" dirty="0">
                <a:solidFill>
                  <a:srgbClr val="9FCFCD"/>
                </a:solidFill>
                <a:latin typeface="Calibri" pitchFamily="34" charset="0"/>
                <a:ea typeface="Calibri" pitchFamily="34" charset="-122"/>
                <a:cs typeface="Calibri" pitchFamily="34" charset="-120"/>
              </a:rPr>
              <a:t>Module : Recherche Opérationnelle</a:t>
            </a:r>
            <a:endParaRPr lang="en-US" sz="1300" dirty="0"/>
          </a:p>
          <a:p>
            <a:pPr indent="0" marL="0">
              <a:buNone/>
            </a:pPr>
            <a:r>
              <a:rPr lang="en-US" sz="1300" dirty="0">
                <a:solidFill>
                  <a:srgbClr val="9FCFCD"/>
                </a:solidFill>
                <a:latin typeface="Calibri" pitchFamily="34" charset="0"/>
                <a:ea typeface="Calibri" pitchFamily="34" charset="-122"/>
                <a:cs typeface="Calibri" pitchFamily="34" charset="-120"/>
              </a:rPr>
              <a:t>Année universitaire : 2025–2026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PLAN DE LA PRÉSENTATION</a:t>
            </a:r>
            <a:endParaRPr lang="en-US" sz="1300" dirty="0"/>
          </a:p>
        </p:txBody>
      </p:sp>
      <p:sp>
        <p:nvSpPr>
          <p:cNvPr id="3" name="Text 1"/>
          <p:cNvSpPr/>
          <p:nvPr/>
        </p:nvSpPr>
        <p:spPr>
          <a:xfrm>
            <a:off x="548640" y="777240"/>
            <a:ext cx="7315200" cy="640080"/>
          </a:xfrm>
          <a:prstGeom prst="rect">
            <a:avLst/>
          </a:prstGeom>
          <a:noFill/>
          <a:ln/>
        </p:spPr>
        <p:txBody>
          <a:bodyPr wrap="square" lIns="0" tIns="0" rIns="0" bIns="0" rtlCol="0" anchor="ctr"/>
          <a:lstStyle/>
          <a:p>
            <a:pPr indent="0" marL="0">
              <a:buNone/>
            </a:pPr>
            <a:r>
              <a:rPr lang="en-US" sz="3400" b="1" dirty="0">
                <a:solidFill>
                  <a:srgbClr val="1E2A2E"/>
                </a:solidFill>
                <a:latin typeface="Cambria" pitchFamily="34" charset="0"/>
                <a:ea typeface="Cambria" pitchFamily="34" charset="-122"/>
                <a:cs typeface="Cambria" pitchFamily="34" charset="-120"/>
              </a:rPr>
              <a:t>Sommaire</a:t>
            </a:r>
            <a:endParaRPr lang="en-US" sz="3400" dirty="0"/>
          </a:p>
        </p:txBody>
      </p:sp>
      <p:sp>
        <p:nvSpPr>
          <p:cNvPr id="4" name="Shape 2"/>
          <p:cNvSpPr/>
          <p:nvPr/>
        </p:nvSpPr>
        <p:spPr>
          <a:xfrm>
            <a:off x="548640" y="1737360"/>
            <a:ext cx="5486400" cy="621792"/>
          </a:xfrm>
          <a:prstGeom prst="roundRect">
            <a:avLst>
              <a:gd name="adj" fmla="val 11765"/>
            </a:avLst>
          </a:prstGeom>
          <a:solidFill>
            <a:srgbClr val="FFFFFF"/>
          </a:solidFill>
          <a:ln/>
          <a:effectLst>
            <a:outerShdw sx="100000" sy="100000" kx="0" ky="0" algn="bl" rotWithShape="0" blurRad="76200" dist="25400" dir="5400000">
              <a:srgbClr val="000000">
                <a:alpha val="8000"/>
              </a:srgbClr>
            </a:outerShdw>
          </a:effectLst>
        </p:spPr>
      </p:sp>
      <p:sp>
        <p:nvSpPr>
          <p:cNvPr id="5" name="Shape 3"/>
          <p:cNvSpPr/>
          <p:nvPr/>
        </p:nvSpPr>
        <p:spPr>
          <a:xfrm>
            <a:off x="685800" y="1847088"/>
            <a:ext cx="402336" cy="402336"/>
          </a:xfrm>
          <a:prstGeom prst="ellipse">
            <a:avLst/>
          </a:prstGeom>
          <a:solidFill>
            <a:srgbClr val="028090"/>
          </a:solidFill>
          <a:ln/>
        </p:spPr>
      </p:sp>
      <p:pic>
        <p:nvPicPr>
          <p:cNvPr id="6" name="Image 0" descr="icon_list_teal.png">    </p:cNvPr>
          <p:cNvPicPr>
            <a:picLocks noChangeAspect="1"/>
          </p:cNvPicPr>
          <p:nvPr/>
        </p:nvPicPr>
        <p:blipFill>
          <a:blip r:embed="rId1"/>
          <a:stretch>
            <a:fillRect/>
          </a:stretch>
        </p:blipFill>
        <p:spPr>
          <a:xfrm>
            <a:off x="749808" y="1911096"/>
            <a:ext cx="274320" cy="274320"/>
          </a:xfrm>
          <a:prstGeom prst="rect">
            <a:avLst/>
          </a:prstGeom>
        </p:spPr>
      </p:pic>
      <p:sp>
        <p:nvSpPr>
          <p:cNvPr id="7" name="Text 4"/>
          <p:cNvSpPr/>
          <p:nvPr/>
        </p:nvSpPr>
        <p:spPr>
          <a:xfrm>
            <a:off x="5029200" y="1828800"/>
            <a:ext cx="914400" cy="457200"/>
          </a:xfrm>
          <a:prstGeom prst="rect">
            <a:avLst/>
          </a:prstGeom>
          <a:noFill/>
          <a:ln/>
        </p:spPr>
        <p:txBody>
          <a:bodyPr wrap="square" lIns="0" tIns="0" rIns="0" bIns="0" rtlCol="0" anchor="ctr"/>
          <a:lstStyle/>
          <a:p>
            <a:pPr algn="r" indent="0" marL="0">
              <a:buNone/>
            </a:pPr>
            <a:r>
              <a:rPr lang="en-US" sz="2000" b="1" dirty="0">
                <a:solidFill>
                  <a:srgbClr val="CBE6E4"/>
                </a:solidFill>
                <a:latin typeface="Cambria" pitchFamily="34" charset="0"/>
                <a:ea typeface="Cambria" pitchFamily="34" charset="-122"/>
                <a:cs typeface="Cambria" pitchFamily="34" charset="-120"/>
              </a:rPr>
              <a:t>01</a:t>
            </a:r>
            <a:endParaRPr lang="en-US" sz="2000" dirty="0"/>
          </a:p>
        </p:txBody>
      </p:sp>
      <p:sp>
        <p:nvSpPr>
          <p:cNvPr id="8" name="Text 5"/>
          <p:cNvSpPr/>
          <p:nvPr/>
        </p:nvSpPr>
        <p:spPr>
          <a:xfrm>
            <a:off x="1234440" y="1737360"/>
            <a:ext cx="3657600" cy="621792"/>
          </a:xfrm>
          <a:prstGeom prst="rect">
            <a:avLst/>
          </a:prstGeom>
          <a:noFill/>
          <a:ln/>
        </p:spPr>
        <p:txBody>
          <a:bodyPr wrap="square" lIns="0" tIns="0" rIns="0" bIns="0" rtlCol="0" anchor="ctr"/>
          <a:lstStyle/>
          <a:p>
            <a:pPr indent="0" marL="0">
              <a:buNone/>
            </a:pPr>
            <a:r>
              <a:rPr lang="en-US" sz="1400" b="1" dirty="0">
                <a:solidFill>
                  <a:srgbClr val="1E2A2E"/>
                </a:solidFill>
                <a:latin typeface="Calibri" pitchFamily="34" charset="0"/>
                <a:ea typeface="Calibri" pitchFamily="34" charset="-122"/>
                <a:cs typeface="Calibri" pitchFamily="34" charset="-120"/>
              </a:rPr>
              <a:t>Introduction générale</a:t>
            </a:r>
            <a:endParaRPr lang="en-US" sz="1400" dirty="0"/>
          </a:p>
        </p:txBody>
      </p:sp>
      <p:sp>
        <p:nvSpPr>
          <p:cNvPr id="9" name="Shape 6"/>
          <p:cNvSpPr/>
          <p:nvPr/>
        </p:nvSpPr>
        <p:spPr>
          <a:xfrm>
            <a:off x="6400800" y="1737360"/>
            <a:ext cx="5486400" cy="621792"/>
          </a:xfrm>
          <a:prstGeom prst="roundRect">
            <a:avLst>
              <a:gd name="adj" fmla="val 11765"/>
            </a:avLst>
          </a:prstGeom>
          <a:solidFill>
            <a:srgbClr val="FFFFFF"/>
          </a:solidFill>
          <a:ln/>
          <a:effectLst>
            <a:outerShdw sx="100000" sy="100000" kx="0" ky="0" algn="bl" rotWithShape="0" blurRad="76200" dist="25400" dir="5400000">
              <a:srgbClr val="000000">
                <a:alpha val="8000"/>
              </a:srgbClr>
            </a:outerShdw>
          </a:effectLst>
        </p:spPr>
      </p:sp>
      <p:sp>
        <p:nvSpPr>
          <p:cNvPr id="10" name="Shape 7"/>
          <p:cNvSpPr/>
          <p:nvPr/>
        </p:nvSpPr>
        <p:spPr>
          <a:xfrm>
            <a:off x="6537960" y="1847088"/>
            <a:ext cx="402336" cy="402336"/>
          </a:xfrm>
          <a:prstGeom prst="ellipse">
            <a:avLst/>
          </a:prstGeom>
          <a:solidFill>
            <a:srgbClr val="028090"/>
          </a:solidFill>
          <a:ln/>
        </p:spPr>
      </p:sp>
      <p:pic>
        <p:nvPicPr>
          <p:cNvPr id="11" name="Image 1" descr="icon_truck_teal.png">    </p:cNvPr>
          <p:cNvPicPr>
            <a:picLocks noChangeAspect="1"/>
          </p:cNvPicPr>
          <p:nvPr/>
        </p:nvPicPr>
        <p:blipFill>
          <a:blip r:embed="rId2"/>
          <a:stretch>
            <a:fillRect/>
          </a:stretch>
        </p:blipFill>
        <p:spPr>
          <a:xfrm>
            <a:off x="6601968" y="1911096"/>
            <a:ext cx="274320" cy="274320"/>
          </a:xfrm>
          <a:prstGeom prst="rect">
            <a:avLst/>
          </a:prstGeom>
        </p:spPr>
      </p:pic>
      <p:sp>
        <p:nvSpPr>
          <p:cNvPr id="12" name="Text 8"/>
          <p:cNvSpPr/>
          <p:nvPr/>
        </p:nvSpPr>
        <p:spPr>
          <a:xfrm>
            <a:off x="10881360" y="1828800"/>
            <a:ext cx="914400" cy="457200"/>
          </a:xfrm>
          <a:prstGeom prst="rect">
            <a:avLst/>
          </a:prstGeom>
          <a:noFill/>
          <a:ln/>
        </p:spPr>
        <p:txBody>
          <a:bodyPr wrap="square" lIns="0" tIns="0" rIns="0" bIns="0" rtlCol="0" anchor="ctr"/>
          <a:lstStyle/>
          <a:p>
            <a:pPr algn="r" indent="0" marL="0">
              <a:buNone/>
            </a:pPr>
            <a:r>
              <a:rPr lang="en-US" sz="2000" b="1" dirty="0">
                <a:solidFill>
                  <a:srgbClr val="CBE6E4"/>
                </a:solidFill>
                <a:latin typeface="Cambria" pitchFamily="34" charset="0"/>
                <a:ea typeface="Cambria" pitchFamily="34" charset="-122"/>
                <a:cs typeface="Cambria" pitchFamily="34" charset="-120"/>
              </a:rPr>
              <a:t>02</a:t>
            </a:r>
            <a:endParaRPr lang="en-US" sz="2000" dirty="0"/>
          </a:p>
        </p:txBody>
      </p:sp>
      <p:sp>
        <p:nvSpPr>
          <p:cNvPr id="13" name="Text 9"/>
          <p:cNvSpPr/>
          <p:nvPr/>
        </p:nvSpPr>
        <p:spPr>
          <a:xfrm>
            <a:off x="7086600" y="1737360"/>
            <a:ext cx="3657600" cy="621792"/>
          </a:xfrm>
          <a:prstGeom prst="rect">
            <a:avLst/>
          </a:prstGeom>
          <a:noFill/>
          <a:ln/>
        </p:spPr>
        <p:txBody>
          <a:bodyPr wrap="square" lIns="0" tIns="0" rIns="0" bIns="0" rtlCol="0" anchor="ctr"/>
          <a:lstStyle/>
          <a:p>
            <a:pPr indent="0" marL="0">
              <a:buNone/>
            </a:pPr>
            <a:r>
              <a:rPr lang="en-US" sz="1400" b="1" dirty="0">
                <a:solidFill>
                  <a:srgbClr val="1E2A2E"/>
                </a:solidFill>
                <a:latin typeface="Calibri" pitchFamily="34" charset="0"/>
                <a:ea typeface="Calibri" pitchFamily="34" charset="-122"/>
                <a:cs typeface="Calibri" pitchFamily="34" charset="-120"/>
              </a:rPr>
              <a:t>Optimisation du transport</a:t>
            </a:r>
            <a:endParaRPr lang="en-US" sz="1400" dirty="0"/>
          </a:p>
        </p:txBody>
      </p:sp>
      <p:sp>
        <p:nvSpPr>
          <p:cNvPr id="14" name="Shape 10"/>
          <p:cNvSpPr/>
          <p:nvPr/>
        </p:nvSpPr>
        <p:spPr>
          <a:xfrm>
            <a:off x="548640" y="2514600"/>
            <a:ext cx="5486400" cy="621792"/>
          </a:xfrm>
          <a:prstGeom prst="roundRect">
            <a:avLst>
              <a:gd name="adj" fmla="val 11765"/>
            </a:avLst>
          </a:prstGeom>
          <a:solidFill>
            <a:srgbClr val="FFFFFF"/>
          </a:solidFill>
          <a:ln/>
          <a:effectLst>
            <a:outerShdw sx="100000" sy="100000" kx="0" ky="0" algn="bl" rotWithShape="0" blurRad="76200" dist="25400" dir="5400000">
              <a:srgbClr val="000000">
                <a:alpha val="8000"/>
              </a:srgbClr>
            </a:outerShdw>
          </a:effectLst>
        </p:spPr>
      </p:sp>
      <p:sp>
        <p:nvSpPr>
          <p:cNvPr id="15" name="Shape 11"/>
          <p:cNvSpPr/>
          <p:nvPr/>
        </p:nvSpPr>
        <p:spPr>
          <a:xfrm>
            <a:off x="685800" y="2624328"/>
            <a:ext cx="402336" cy="402336"/>
          </a:xfrm>
          <a:prstGeom prst="ellipse">
            <a:avLst/>
          </a:prstGeom>
          <a:solidFill>
            <a:srgbClr val="028090"/>
          </a:solidFill>
          <a:ln/>
        </p:spPr>
      </p:sp>
      <p:pic>
        <p:nvPicPr>
          <p:cNvPr id="16" name="Image 2" descr="icon_calc_teal.png">    </p:cNvPr>
          <p:cNvPicPr>
            <a:picLocks noChangeAspect="1"/>
          </p:cNvPicPr>
          <p:nvPr/>
        </p:nvPicPr>
        <p:blipFill>
          <a:blip r:embed="rId3"/>
          <a:stretch>
            <a:fillRect/>
          </a:stretch>
        </p:blipFill>
        <p:spPr>
          <a:xfrm>
            <a:off x="749808" y="2688336"/>
            <a:ext cx="274320" cy="274320"/>
          </a:xfrm>
          <a:prstGeom prst="rect">
            <a:avLst/>
          </a:prstGeom>
        </p:spPr>
      </p:pic>
      <p:sp>
        <p:nvSpPr>
          <p:cNvPr id="17" name="Text 12"/>
          <p:cNvSpPr/>
          <p:nvPr/>
        </p:nvSpPr>
        <p:spPr>
          <a:xfrm>
            <a:off x="5029200" y="2606040"/>
            <a:ext cx="914400" cy="457200"/>
          </a:xfrm>
          <a:prstGeom prst="rect">
            <a:avLst/>
          </a:prstGeom>
          <a:noFill/>
          <a:ln/>
        </p:spPr>
        <p:txBody>
          <a:bodyPr wrap="square" lIns="0" tIns="0" rIns="0" bIns="0" rtlCol="0" anchor="ctr"/>
          <a:lstStyle/>
          <a:p>
            <a:pPr algn="r" indent="0" marL="0">
              <a:buNone/>
            </a:pPr>
            <a:r>
              <a:rPr lang="en-US" sz="2000" b="1" dirty="0">
                <a:solidFill>
                  <a:srgbClr val="CBE6E4"/>
                </a:solidFill>
                <a:latin typeface="Cambria" pitchFamily="34" charset="0"/>
                <a:ea typeface="Cambria" pitchFamily="34" charset="-122"/>
                <a:cs typeface="Cambria" pitchFamily="34" charset="-120"/>
              </a:rPr>
              <a:t>03</a:t>
            </a:r>
            <a:endParaRPr lang="en-US" sz="2000" dirty="0"/>
          </a:p>
        </p:txBody>
      </p:sp>
      <p:sp>
        <p:nvSpPr>
          <p:cNvPr id="18" name="Text 13"/>
          <p:cNvSpPr/>
          <p:nvPr/>
        </p:nvSpPr>
        <p:spPr>
          <a:xfrm>
            <a:off x="1234440" y="2514600"/>
            <a:ext cx="3657600" cy="621792"/>
          </a:xfrm>
          <a:prstGeom prst="rect">
            <a:avLst/>
          </a:prstGeom>
          <a:noFill/>
          <a:ln/>
        </p:spPr>
        <p:txBody>
          <a:bodyPr wrap="square" lIns="0" tIns="0" rIns="0" bIns="0" rtlCol="0" anchor="ctr"/>
          <a:lstStyle/>
          <a:p>
            <a:pPr indent="0" marL="0">
              <a:buNone/>
            </a:pPr>
            <a:r>
              <a:rPr lang="en-US" sz="1400" b="1" dirty="0">
                <a:solidFill>
                  <a:srgbClr val="1E2A2E"/>
                </a:solidFill>
                <a:latin typeface="Calibri" pitchFamily="34" charset="0"/>
                <a:ea typeface="Calibri" pitchFamily="34" charset="-122"/>
                <a:cs typeface="Calibri" pitchFamily="34" charset="-120"/>
              </a:rPr>
              <a:t>Méthodes de résolution</a:t>
            </a:r>
            <a:endParaRPr lang="en-US" sz="1400" dirty="0"/>
          </a:p>
        </p:txBody>
      </p:sp>
      <p:sp>
        <p:nvSpPr>
          <p:cNvPr id="19" name="Shape 14"/>
          <p:cNvSpPr/>
          <p:nvPr/>
        </p:nvSpPr>
        <p:spPr>
          <a:xfrm>
            <a:off x="6400800" y="2514600"/>
            <a:ext cx="5486400" cy="621792"/>
          </a:xfrm>
          <a:prstGeom prst="roundRect">
            <a:avLst>
              <a:gd name="adj" fmla="val 11765"/>
            </a:avLst>
          </a:prstGeom>
          <a:solidFill>
            <a:srgbClr val="FFFFFF"/>
          </a:solidFill>
          <a:ln/>
          <a:effectLst>
            <a:outerShdw sx="100000" sy="100000" kx="0" ky="0" algn="bl" rotWithShape="0" blurRad="76200" dist="25400" dir="5400000">
              <a:srgbClr val="000000">
                <a:alpha val="8000"/>
              </a:srgbClr>
            </a:outerShdw>
          </a:effectLst>
        </p:spPr>
      </p:sp>
      <p:sp>
        <p:nvSpPr>
          <p:cNvPr id="20" name="Shape 15"/>
          <p:cNvSpPr/>
          <p:nvPr/>
        </p:nvSpPr>
        <p:spPr>
          <a:xfrm>
            <a:off x="6537960" y="2624328"/>
            <a:ext cx="402336" cy="402336"/>
          </a:xfrm>
          <a:prstGeom prst="ellipse">
            <a:avLst/>
          </a:prstGeom>
          <a:solidFill>
            <a:srgbClr val="028090"/>
          </a:solidFill>
          <a:ln/>
        </p:spPr>
      </p:sp>
      <p:pic>
        <p:nvPicPr>
          <p:cNvPr id="21" name="Image 3" descr="icon_code_teal.png">    </p:cNvPr>
          <p:cNvPicPr>
            <a:picLocks noChangeAspect="1"/>
          </p:cNvPicPr>
          <p:nvPr/>
        </p:nvPicPr>
        <p:blipFill>
          <a:blip r:embed="rId4"/>
          <a:stretch>
            <a:fillRect/>
          </a:stretch>
        </p:blipFill>
        <p:spPr>
          <a:xfrm>
            <a:off x="6601968" y="2688336"/>
            <a:ext cx="274320" cy="274320"/>
          </a:xfrm>
          <a:prstGeom prst="rect">
            <a:avLst/>
          </a:prstGeom>
        </p:spPr>
      </p:pic>
      <p:sp>
        <p:nvSpPr>
          <p:cNvPr id="22" name="Text 16"/>
          <p:cNvSpPr/>
          <p:nvPr/>
        </p:nvSpPr>
        <p:spPr>
          <a:xfrm>
            <a:off x="10881360" y="2606040"/>
            <a:ext cx="914400" cy="457200"/>
          </a:xfrm>
          <a:prstGeom prst="rect">
            <a:avLst/>
          </a:prstGeom>
          <a:noFill/>
          <a:ln/>
        </p:spPr>
        <p:txBody>
          <a:bodyPr wrap="square" lIns="0" tIns="0" rIns="0" bIns="0" rtlCol="0" anchor="ctr"/>
          <a:lstStyle/>
          <a:p>
            <a:pPr algn="r" indent="0" marL="0">
              <a:buNone/>
            </a:pPr>
            <a:r>
              <a:rPr lang="en-US" sz="2000" b="1" dirty="0">
                <a:solidFill>
                  <a:srgbClr val="CBE6E4"/>
                </a:solidFill>
                <a:latin typeface="Cambria" pitchFamily="34" charset="0"/>
                <a:ea typeface="Cambria" pitchFamily="34" charset="-122"/>
                <a:cs typeface="Cambria" pitchFamily="34" charset="-120"/>
              </a:rPr>
              <a:t>04</a:t>
            </a:r>
            <a:endParaRPr lang="en-US" sz="2000" dirty="0"/>
          </a:p>
        </p:txBody>
      </p:sp>
      <p:sp>
        <p:nvSpPr>
          <p:cNvPr id="23" name="Text 17"/>
          <p:cNvSpPr/>
          <p:nvPr/>
        </p:nvSpPr>
        <p:spPr>
          <a:xfrm>
            <a:off x="7086600" y="2514600"/>
            <a:ext cx="3657600" cy="621792"/>
          </a:xfrm>
          <a:prstGeom prst="rect">
            <a:avLst/>
          </a:prstGeom>
          <a:noFill/>
          <a:ln/>
        </p:spPr>
        <p:txBody>
          <a:bodyPr wrap="square" lIns="0" tIns="0" rIns="0" bIns="0" rtlCol="0" anchor="ctr"/>
          <a:lstStyle/>
          <a:p>
            <a:pPr indent="0" marL="0">
              <a:buNone/>
            </a:pPr>
            <a:r>
              <a:rPr lang="en-US" sz="1400" b="1" dirty="0">
                <a:solidFill>
                  <a:srgbClr val="1E2A2E"/>
                </a:solidFill>
                <a:latin typeface="Calibri" pitchFamily="34" charset="0"/>
                <a:ea typeface="Calibri" pitchFamily="34" charset="-122"/>
                <a:cs typeface="Calibri" pitchFamily="34" charset="-120"/>
              </a:rPr>
              <a:t>Résolution informatique (Python / PuLP)</a:t>
            </a:r>
            <a:endParaRPr lang="en-US" sz="1400" dirty="0"/>
          </a:p>
        </p:txBody>
      </p:sp>
      <p:sp>
        <p:nvSpPr>
          <p:cNvPr id="24" name="Shape 18"/>
          <p:cNvSpPr/>
          <p:nvPr/>
        </p:nvSpPr>
        <p:spPr>
          <a:xfrm>
            <a:off x="548640" y="3291840"/>
            <a:ext cx="5486400" cy="621792"/>
          </a:xfrm>
          <a:prstGeom prst="roundRect">
            <a:avLst>
              <a:gd name="adj" fmla="val 11765"/>
            </a:avLst>
          </a:prstGeom>
          <a:solidFill>
            <a:srgbClr val="FFFFFF"/>
          </a:solidFill>
          <a:ln/>
          <a:effectLst>
            <a:outerShdw sx="100000" sy="100000" kx="0" ky="0" algn="bl" rotWithShape="0" blurRad="76200" dist="25400" dir="5400000">
              <a:srgbClr val="000000">
                <a:alpha val="8000"/>
              </a:srgbClr>
            </a:outerShdw>
          </a:effectLst>
        </p:spPr>
      </p:sp>
      <p:sp>
        <p:nvSpPr>
          <p:cNvPr id="25" name="Shape 19"/>
          <p:cNvSpPr/>
          <p:nvPr/>
        </p:nvSpPr>
        <p:spPr>
          <a:xfrm>
            <a:off x="685800" y="3401568"/>
            <a:ext cx="402336" cy="402336"/>
          </a:xfrm>
          <a:prstGeom prst="ellipse">
            <a:avLst/>
          </a:prstGeom>
          <a:solidFill>
            <a:srgbClr val="028090"/>
          </a:solidFill>
          <a:ln/>
        </p:spPr>
      </p:sp>
      <p:pic>
        <p:nvPicPr>
          <p:cNvPr id="26" name="Image 4" descr="icon_chart_teal.png">    </p:cNvPr>
          <p:cNvPicPr>
            <a:picLocks noChangeAspect="1"/>
          </p:cNvPicPr>
          <p:nvPr/>
        </p:nvPicPr>
        <p:blipFill>
          <a:blip r:embed="rId5"/>
          <a:stretch>
            <a:fillRect/>
          </a:stretch>
        </p:blipFill>
        <p:spPr>
          <a:xfrm>
            <a:off x="749808" y="3465576"/>
            <a:ext cx="274320" cy="274320"/>
          </a:xfrm>
          <a:prstGeom prst="rect">
            <a:avLst/>
          </a:prstGeom>
        </p:spPr>
      </p:pic>
      <p:sp>
        <p:nvSpPr>
          <p:cNvPr id="27" name="Text 20"/>
          <p:cNvSpPr/>
          <p:nvPr/>
        </p:nvSpPr>
        <p:spPr>
          <a:xfrm>
            <a:off x="5029200" y="3383280"/>
            <a:ext cx="914400" cy="457200"/>
          </a:xfrm>
          <a:prstGeom prst="rect">
            <a:avLst/>
          </a:prstGeom>
          <a:noFill/>
          <a:ln/>
        </p:spPr>
        <p:txBody>
          <a:bodyPr wrap="square" lIns="0" tIns="0" rIns="0" bIns="0" rtlCol="0" anchor="ctr"/>
          <a:lstStyle/>
          <a:p>
            <a:pPr algn="r" indent="0" marL="0">
              <a:buNone/>
            </a:pPr>
            <a:r>
              <a:rPr lang="en-US" sz="2000" b="1" dirty="0">
                <a:solidFill>
                  <a:srgbClr val="CBE6E4"/>
                </a:solidFill>
                <a:latin typeface="Cambria" pitchFamily="34" charset="0"/>
                <a:ea typeface="Cambria" pitchFamily="34" charset="-122"/>
                <a:cs typeface="Cambria" pitchFamily="34" charset="-120"/>
              </a:rPr>
              <a:t>05</a:t>
            </a:r>
            <a:endParaRPr lang="en-US" sz="2000" dirty="0"/>
          </a:p>
        </p:txBody>
      </p:sp>
      <p:sp>
        <p:nvSpPr>
          <p:cNvPr id="28" name="Text 21"/>
          <p:cNvSpPr/>
          <p:nvPr/>
        </p:nvSpPr>
        <p:spPr>
          <a:xfrm>
            <a:off x="1234440" y="3291840"/>
            <a:ext cx="3657600" cy="621792"/>
          </a:xfrm>
          <a:prstGeom prst="rect">
            <a:avLst/>
          </a:prstGeom>
          <a:noFill/>
          <a:ln/>
        </p:spPr>
        <p:txBody>
          <a:bodyPr wrap="square" lIns="0" tIns="0" rIns="0" bIns="0" rtlCol="0" anchor="ctr"/>
          <a:lstStyle/>
          <a:p>
            <a:pPr indent="0" marL="0">
              <a:buNone/>
            </a:pPr>
            <a:r>
              <a:rPr lang="en-US" sz="1400" b="1" dirty="0">
                <a:solidFill>
                  <a:srgbClr val="1E2A2E"/>
                </a:solidFill>
                <a:latin typeface="Calibri" pitchFamily="34" charset="0"/>
                <a:ea typeface="Calibri" pitchFamily="34" charset="-122"/>
                <a:cs typeface="Calibri" pitchFamily="34" charset="-120"/>
              </a:rPr>
              <a:t>Résultats obtenus</a:t>
            </a:r>
            <a:endParaRPr lang="en-US" sz="1400" dirty="0"/>
          </a:p>
        </p:txBody>
      </p:sp>
      <p:sp>
        <p:nvSpPr>
          <p:cNvPr id="29" name="Shape 22"/>
          <p:cNvSpPr/>
          <p:nvPr/>
        </p:nvSpPr>
        <p:spPr>
          <a:xfrm>
            <a:off x="6400800" y="3291840"/>
            <a:ext cx="5486400" cy="621792"/>
          </a:xfrm>
          <a:prstGeom prst="roundRect">
            <a:avLst>
              <a:gd name="adj" fmla="val 11765"/>
            </a:avLst>
          </a:prstGeom>
          <a:solidFill>
            <a:srgbClr val="FFFFFF"/>
          </a:solidFill>
          <a:ln/>
          <a:effectLst>
            <a:outerShdw sx="100000" sy="100000" kx="0" ky="0" algn="bl" rotWithShape="0" blurRad="76200" dist="25400" dir="5400000">
              <a:srgbClr val="000000">
                <a:alpha val="8000"/>
              </a:srgbClr>
            </a:outerShdw>
          </a:effectLst>
        </p:spPr>
      </p:sp>
      <p:sp>
        <p:nvSpPr>
          <p:cNvPr id="30" name="Shape 23"/>
          <p:cNvSpPr/>
          <p:nvPr/>
        </p:nvSpPr>
        <p:spPr>
          <a:xfrm>
            <a:off x="6537960" y="3401568"/>
            <a:ext cx="402336" cy="402336"/>
          </a:xfrm>
          <a:prstGeom prst="ellipse">
            <a:avLst/>
          </a:prstGeom>
          <a:solidFill>
            <a:srgbClr val="028090"/>
          </a:solidFill>
          <a:ln/>
        </p:spPr>
      </p:sp>
      <p:pic>
        <p:nvPicPr>
          <p:cNvPr id="31" name="Image 5" descr="icon_route_teal.png">    </p:cNvPr>
          <p:cNvPicPr>
            <a:picLocks noChangeAspect="1"/>
          </p:cNvPicPr>
          <p:nvPr/>
        </p:nvPicPr>
        <p:blipFill>
          <a:blip r:embed="rId6"/>
          <a:stretch>
            <a:fillRect/>
          </a:stretch>
        </p:blipFill>
        <p:spPr>
          <a:xfrm>
            <a:off x="6601968" y="3465576"/>
            <a:ext cx="274320" cy="274320"/>
          </a:xfrm>
          <a:prstGeom prst="rect">
            <a:avLst/>
          </a:prstGeom>
        </p:spPr>
      </p:pic>
      <p:sp>
        <p:nvSpPr>
          <p:cNvPr id="32" name="Text 24"/>
          <p:cNvSpPr/>
          <p:nvPr/>
        </p:nvSpPr>
        <p:spPr>
          <a:xfrm>
            <a:off x="10881360" y="3383280"/>
            <a:ext cx="914400" cy="457200"/>
          </a:xfrm>
          <a:prstGeom prst="rect">
            <a:avLst/>
          </a:prstGeom>
          <a:noFill/>
          <a:ln/>
        </p:spPr>
        <p:txBody>
          <a:bodyPr wrap="square" lIns="0" tIns="0" rIns="0" bIns="0" rtlCol="0" anchor="ctr"/>
          <a:lstStyle/>
          <a:p>
            <a:pPr algn="r" indent="0" marL="0">
              <a:buNone/>
            </a:pPr>
            <a:r>
              <a:rPr lang="en-US" sz="2000" b="1" dirty="0">
                <a:solidFill>
                  <a:srgbClr val="CBE6E4"/>
                </a:solidFill>
                <a:latin typeface="Cambria" pitchFamily="34" charset="0"/>
                <a:ea typeface="Cambria" pitchFamily="34" charset="-122"/>
                <a:cs typeface="Cambria" pitchFamily="34" charset="-120"/>
              </a:rPr>
              <a:t>06</a:t>
            </a:r>
            <a:endParaRPr lang="en-US" sz="2000" dirty="0"/>
          </a:p>
        </p:txBody>
      </p:sp>
      <p:sp>
        <p:nvSpPr>
          <p:cNvPr id="33" name="Text 25"/>
          <p:cNvSpPr/>
          <p:nvPr/>
        </p:nvSpPr>
        <p:spPr>
          <a:xfrm>
            <a:off x="7086600" y="3291840"/>
            <a:ext cx="3657600" cy="621792"/>
          </a:xfrm>
          <a:prstGeom prst="rect">
            <a:avLst/>
          </a:prstGeom>
          <a:noFill/>
          <a:ln/>
        </p:spPr>
        <p:txBody>
          <a:bodyPr wrap="square" lIns="0" tIns="0" rIns="0" bIns="0" rtlCol="0" anchor="ctr"/>
          <a:lstStyle/>
          <a:p>
            <a:pPr indent="0" marL="0">
              <a:buNone/>
            </a:pPr>
            <a:r>
              <a:rPr lang="en-US" sz="1400" b="1" dirty="0">
                <a:solidFill>
                  <a:srgbClr val="1E2A2E"/>
                </a:solidFill>
                <a:latin typeface="Calibri" pitchFamily="34" charset="0"/>
                <a:ea typeface="Calibri" pitchFamily="34" charset="-122"/>
                <a:cs typeface="Calibri" pitchFamily="34" charset="-120"/>
              </a:rPr>
              <a:t>Lien avec le problème VRP</a:t>
            </a:r>
            <a:endParaRPr lang="en-US" sz="1400" dirty="0"/>
          </a:p>
        </p:txBody>
      </p:sp>
      <p:sp>
        <p:nvSpPr>
          <p:cNvPr id="34" name="Text 26"/>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900" dirty="0">
                <a:solidFill>
                  <a:srgbClr val="7A9A9C"/>
                </a:solidFill>
                <a:latin typeface="Calibri" pitchFamily="34" charset="0"/>
                <a:ea typeface="Calibri" pitchFamily="34" charset="-122"/>
                <a:cs typeface="Calibri" pitchFamily="34" charset="-120"/>
              </a:rPr>
              <a:t>Rapport RO — Recherche Opérationnelle</a:t>
            </a:r>
            <a:endParaRPr lang="en-US" sz="900" dirty="0"/>
          </a:p>
        </p:txBody>
      </p:sp>
      <p:sp>
        <p:nvSpPr>
          <p:cNvPr id="35" name="Text 27"/>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7A9A9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777240"/>
            <a:ext cx="8229600" cy="640080"/>
          </a:xfrm>
          <a:prstGeom prst="rect">
            <a:avLst/>
          </a:prstGeom>
          <a:noFill/>
          <a:ln/>
        </p:spPr>
        <p:txBody>
          <a:bodyPr wrap="square" lIns="0" tIns="0" rIns="0" bIns="0" rtlCol="0" anchor="ctr"/>
          <a:lstStyle/>
          <a:p>
            <a:pPr indent="0" marL="0">
              <a:buNone/>
            </a:pPr>
            <a:r>
              <a:rPr lang="en-US" sz="3200" b="1" dirty="0">
                <a:solidFill>
                  <a:srgbClr val="1E2A2E"/>
                </a:solidFill>
                <a:latin typeface="Cambria" pitchFamily="34" charset="0"/>
                <a:ea typeface="Cambria" pitchFamily="34" charset="-122"/>
                <a:cs typeface="Cambria" pitchFamily="34" charset="-120"/>
              </a:rPr>
              <a:t>Introduction générale</a:t>
            </a:r>
            <a:endParaRPr lang="en-US" sz="3200" dirty="0"/>
          </a:p>
        </p:txBody>
      </p:sp>
      <p:sp>
        <p:nvSpPr>
          <p:cNvPr id="4" name="Text 2"/>
          <p:cNvSpPr/>
          <p:nvPr/>
        </p:nvSpPr>
        <p:spPr>
          <a:xfrm>
            <a:off x="548640" y="1600200"/>
            <a:ext cx="6492240" cy="4389120"/>
          </a:xfrm>
          <a:prstGeom prst="rect">
            <a:avLst/>
          </a:prstGeom>
          <a:noFill/>
          <a:ln/>
        </p:spPr>
        <p:txBody>
          <a:bodyPr wrap="square" lIns="0" tIns="0" rIns="0" bIns="0" rtlCol="0" anchor="t"/>
          <a:lstStyle/>
          <a:p>
            <a:pPr indent="0" marL="0">
              <a:spcAft>
                <a:spcPts val="1200"/>
              </a:spcAft>
              <a:buNone/>
            </a:pPr>
            <a:r>
              <a:rPr lang="en-US" sz="1500" dirty="0">
                <a:solidFill>
                  <a:srgbClr val="3A4749"/>
                </a:solidFill>
                <a:latin typeface="Calibri" pitchFamily="34" charset="0"/>
                <a:ea typeface="Calibri" pitchFamily="34" charset="-122"/>
                <a:cs typeface="Calibri" pitchFamily="34" charset="-120"/>
              </a:rPr>
              <a:t>La recherche opérationnelle est une discipline qui vise à modéliser et résoudre des problèmes de décision en optimisant l'utilisation des ressources disponibles.</a:t>
            </a:r>
            <a:endParaRPr lang="en-US" sz="1500" dirty="0"/>
          </a:p>
          <a:p>
            <a:pPr indent="0" marL="0">
              <a:spcAft>
                <a:spcPts val="1200"/>
              </a:spcAft>
              <a:buNone/>
            </a:pPr>
            <a:r>
              <a:rPr lang="en-US" sz="1500" dirty="0">
                <a:solidFill>
                  <a:srgbClr val="3A4749"/>
                </a:solidFill>
                <a:latin typeface="Calibri" pitchFamily="34" charset="0"/>
                <a:ea typeface="Calibri" pitchFamily="34" charset="-122"/>
                <a:cs typeface="Calibri" pitchFamily="34" charset="-120"/>
              </a:rPr>
              <a:t>Elle s'applique notamment au transport, à la logistique et à la gestion des systèmes.</a:t>
            </a:r>
            <a:endParaRPr lang="en-US" sz="1500" dirty="0"/>
          </a:p>
          <a:p>
            <a:pPr indent="0" marL="0">
              <a:spcAft>
                <a:spcPts val="1200"/>
              </a:spcAft>
              <a:buNone/>
            </a:pPr>
            <a:r>
              <a:rPr lang="en-US" sz="1500" dirty="0">
                <a:solidFill>
                  <a:srgbClr val="3A4749"/>
                </a:solidFill>
                <a:latin typeface="Calibri" pitchFamily="34" charset="0"/>
                <a:ea typeface="Calibri" pitchFamily="34" charset="-122"/>
                <a:cs typeface="Calibri" pitchFamily="34" charset="-120"/>
              </a:rPr>
              <a:t>Ce rapport s'intéresse à l'optimisation du transport à travers un problème classique, résolu par des méthodes de calcul puis validé et comparé à l'aide d'un outil informatique.</a:t>
            </a:r>
            <a:endParaRPr lang="en-US" sz="1500" dirty="0"/>
          </a:p>
          <a:p>
            <a:pPr indent="0" marL="0">
              <a:buNone/>
            </a:pPr>
            <a:r>
              <a:rPr lang="en-US" sz="1500" dirty="0">
                <a:solidFill>
                  <a:srgbClr val="3A4749"/>
                </a:solidFill>
                <a:latin typeface="Calibri" pitchFamily="34" charset="0"/>
                <a:ea typeface="Calibri" pitchFamily="34" charset="-122"/>
                <a:cs typeface="Calibri" pitchFamily="34" charset="-120"/>
              </a:rPr>
              <a:t>Il aborde ensuite l'optimisation combinatoire à travers le problème de tournées de véhicules (VRP), qui ajoute la notion d'ordre de visite aux quantités transportées.</a:t>
            </a:r>
            <a:endParaRPr lang="en-US" sz="1500" dirty="0"/>
          </a:p>
        </p:txBody>
      </p:sp>
      <p:sp>
        <p:nvSpPr>
          <p:cNvPr id="5" name="Shape 3"/>
          <p:cNvSpPr/>
          <p:nvPr/>
        </p:nvSpPr>
        <p:spPr>
          <a:xfrm>
            <a:off x="7406640" y="1691640"/>
            <a:ext cx="4206240" cy="1920240"/>
          </a:xfrm>
          <a:prstGeom prst="roundRect">
            <a:avLst>
              <a:gd name="adj" fmla="val 4762"/>
            </a:avLst>
          </a:prstGeom>
          <a:solidFill>
            <a:srgbClr val="015C63"/>
          </a:solidFill>
          <a:ln/>
        </p:spPr>
      </p:sp>
      <p:pic>
        <p:nvPicPr>
          <p:cNvPr id="6" name="Image 0" descr="icon_truck.png">    </p:cNvPr>
          <p:cNvPicPr>
            <a:picLocks noChangeAspect="1"/>
          </p:cNvPicPr>
          <p:nvPr/>
        </p:nvPicPr>
        <p:blipFill>
          <a:blip r:embed="rId1"/>
          <a:stretch>
            <a:fillRect/>
          </a:stretch>
        </p:blipFill>
        <p:spPr>
          <a:xfrm>
            <a:off x="7680960" y="1920240"/>
            <a:ext cx="502920" cy="502920"/>
          </a:xfrm>
          <a:prstGeom prst="rect">
            <a:avLst/>
          </a:prstGeom>
        </p:spPr>
      </p:pic>
      <p:sp>
        <p:nvSpPr>
          <p:cNvPr id="7" name="Text 4"/>
          <p:cNvSpPr/>
          <p:nvPr/>
        </p:nvSpPr>
        <p:spPr>
          <a:xfrm>
            <a:off x="7680960" y="2514600"/>
            <a:ext cx="36576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Problème de transport</a:t>
            </a:r>
            <a:endParaRPr lang="en-US" sz="1500" dirty="0"/>
          </a:p>
        </p:txBody>
      </p:sp>
      <p:sp>
        <p:nvSpPr>
          <p:cNvPr id="8" name="Text 5"/>
          <p:cNvSpPr/>
          <p:nvPr/>
        </p:nvSpPr>
        <p:spPr>
          <a:xfrm>
            <a:off x="7680960" y="2880360"/>
            <a:ext cx="3657600" cy="640080"/>
          </a:xfrm>
          <a:prstGeom prst="rect">
            <a:avLst/>
          </a:prstGeom>
          <a:noFill/>
          <a:ln/>
        </p:spPr>
        <p:txBody>
          <a:bodyPr wrap="square" lIns="0" tIns="0" rIns="0" bIns="0" rtlCol="0" anchor="ctr"/>
          <a:lstStyle/>
          <a:p>
            <a:pPr indent="0" marL="0">
              <a:buNone/>
            </a:pPr>
            <a:r>
              <a:rPr lang="en-US" sz="1200" dirty="0">
                <a:solidFill>
                  <a:srgbClr val="CFEDEA"/>
                </a:solidFill>
                <a:latin typeface="Calibri" pitchFamily="34" charset="0"/>
                <a:ea typeface="Calibri" pitchFamily="34" charset="-122"/>
                <a:cs typeface="Calibri" pitchFamily="34" charset="-120"/>
              </a:rPr>
              <a:t>Répartir des marchandises entre sources et destinations au coût minimal.</a:t>
            </a:r>
            <a:endParaRPr lang="en-US" sz="1200" dirty="0"/>
          </a:p>
        </p:txBody>
      </p:sp>
      <p:sp>
        <p:nvSpPr>
          <p:cNvPr id="9" name="Shape 6"/>
          <p:cNvSpPr/>
          <p:nvPr/>
        </p:nvSpPr>
        <p:spPr>
          <a:xfrm>
            <a:off x="7406640" y="3794760"/>
            <a:ext cx="4206240" cy="1920240"/>
          </a:xfrm>
          <a:prstGeom prst="roundRect">
            <a:avLst>
              <a:gd name="adj" fmla="val 4762"/>
            </a:avLst>
          </a:prstGeom>
          <a:solidFill>
            <a:srgbClr val="00A896"/>
          </a:solidFill>
          <a:ln/>
        </p:spPr>
      </p:sp>
      <p:pic>
        <p:nvPicPr>
          <p:cNvPr id="10" name="Image 1" descr="icon_route.png">    </p:cNvPr>
          <p:cNvPicPr>
            <a:picLocks noChangeAspect="1"/>
          </p:cNvPicPr>
          <p:nvPr/>
        </p:nvPicPr>
        <p:blipFill>
          <a:blip r:embed="rId2"/>
          <a:stretch>
            <a:fillRect/>
          </a:stretch>
        </p:blipFill>
        <p:spPr>
          <a:xfrm>
            <a:off x="7680960" y="4023360"/>
            <a:ext cx="502920" cy="502920"/>
          </a:xfrm>
          <a:prstGeom prst="rect">
            <a:avLst/>
          </a:prstGeom>
        </p:spPr>
      </p:pic>
      <p:sp>
        <p:nvSpPr>
          <p:cNvPr id="11" name="Text 7"/>
          <p:cNvSpPr/>
          <p:nvPr/>
        </p:nvSpPr>
        <p:spPr>
          <a:xfrm>
            <a:off x="7680960" y="4617720"/>
            <a:ext cx="36576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Problème VRP</a:t>
            </a:r>
            <a:endParaRPr lang="en-US" sz="1500" dirty="0"/>
          </a:p>
        </p:txBody>
      </p:sp>
      <p:sp>
        <p:nvSpPr>
          <p:cNvPr id="12" name="Text 8"/>
          <p:cNvSpPr/>
          <p:nvPr/>
        </p:nvSpPr>
        <p:spPr>
          <a:xfrm>
            <a:off x="7680960" y="4983480"/>
            <a:ext cx="3657600" cy="640080"/>
          </a:xfrm>
          <a:prstGeom prst="rect">
            <a:avLst/>
          </a:prstGeom>
          <a:noFill/>
          <a:ln/>
        </p:spPr>
        <p:txBody>
          <a:bodyPr wrap="square" lIns="0" tIns="0" rIns="0" bIns="0" rtlCol="0" anchor="ctr"/>
          <a:lstStyle/>
          <a:p>
            <a:pPr indent="0" marL="0">
              <a:buNone/>
            </a:pPr>
            <a:r>
              <a:rPr lang="en-US" sz="1200" dirty="0">
                <a:solidFill>
                  <a:srgbClr val="EAFBF6"/>
                </a:solidFill>
                <a:latin typeface="Calibri" pitchFamily="34" charset="0"/>
                <a:ea typeface="Calibri" pitchFamily="34" charset="-122"/>
                <a:cs typeface="Calibri" pitchFamily="34" charset="-120"/>
              </a:rPr>
              <a:t>Optimiser des tournées de véhicules en tenant compte de l'ordre de visite.</a:t>
            </a:r>
            <a:endParaRPr lang="en-US" sz="1200" dirty="0"/>
          </a:p>
        </p:txBody>
      </p:sp>
      <p:sp>
        <p:nvSpPr>
          <p:cNvPr id="13" name="Text 9"/>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900" dirty="0">
                <a:solidFill>
                  <a:srgbClr val="7A9A9C"/>
                </a:solidFill>
                <a:latin typeface="Calibri" pitchFamily="34" charset="0"/>
                <a:ea typeface="Calibri" pitchFamily="34" charset="-122"/>
                <a:cs typeface="Calibri" pitchFamily="34" charset="-120"/>
              </a:rPr>
              <a:t>Rapport RO — Recherche Opérationnelle</a:t>
            </a:r>
            <a:endParaRPr lang="en-US" sz="900" dirty="0"/>
          </a:p>
        </p:txBody>
      </p:sp>
      <p:sp>
        <p:nvSpPr>
          <p:cNvPr id="14" name="Text 10"/>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7A9A9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A. OPTIMISATION DU TRANSPORT</a:t>
            </a:r>
            <a:endParaRPr lang="en-US" sz="1300" dirty="0"/>
          </a:p>
        </p:txBody>
      </p:sp>
      <p:sp>
        <p:nvSpPr>
          <p:cNvPr id="3" name="Text 1"/>
          <p:cNvSpPr/>
          <p:nvPr/>
        </p:nvSpPr>
        <p:spPr>
          <a:xfrm>
            <a:off x="548640" y="777240"/>
            <a:ext cx="8229600" cy="640080"/>
          </a:xfrm>
          <a:prstGeom prst="rect">
            <a:avLst/>
          </a:prstGeom>
          <a:noFill/>
          <a:ln/>
        </p:spPr>
        <p:txBody>
          <a:bodyPr wrap="square" lIns="0" tIns="0" rIns="0" bIns="0" rtlCol="0" anchor="ctr"/>
          <a:lstStyle/>
          <a:p>
            <a:pPr indent="0" marL="0">
              <a:buNone/>
            </a:pPr>
            <a:r>
              <a:rPr lang="en-US" sz="3200" b="1" dirty="0">
                <a:solidFill>
                  <a:srgbClr val="1E2A2E"/>
                </a:solidFill>
                <a:latin typeface="Cambria" pitchFamily="34" charset="0"/>
                <a:ea typeface="Cambria" pitchFamily="34" charset="-122"/>
                <a:cs typeface="Cambria" pitchFamily="34" charset="-120"/>
              </a:rPr>
              <a:t>Le problème initial</a:t>
            </a:r>
            <a:endParaRPr lang="en-US" sz="3200" dirty="0"/>
          </a:p>
        </p:txBody>
      </p:sp>
      <p:sp>
        <p:nvSpPr>
          <p:cNvPr id="4" name="Shape 2"/>
          <p:cNvSpPr/>
          <p:nvPr/>
        </p:nvSpPr>
        <p:spPr>
          <a:xfrm>
            <a:off x="548640" y="1600200"/>
            <a:ext cx="11064240" cy="1371600"/>
          </a:xfrm>
          <a:prstGeom prst="roundRect">
            <a:avLst>
              <a:gd name="adj" fmla="val 6667"/>
            </a:avLst>
          </a:prstGeom>
          <a:solidFill>
            <a:srgbClr val="FFFFFF"/>
          </a:solidFill>
          <a:ln/>
          <a:effectLst>
            <a:outerShdw sx="100000" sy="100000" kx="0" ky="0" algn="bl" rotWithShape="0" blurRad="101600" dist="25400" dir="5400000">
              <a:srgbClr val="000000">
                <a:alpha val="8000"/>
              </a:srgbClr>
            </a:outerShdw>
          </a:effectLst>
        </p:spPr>
      </p:sp>
      <p:pic>
        <p:nvPicPr>
          <p:cNvPr id="5" name="Image 0" descr="icon_target_teal.png">    </p:cNvPr>
          <p:cNvPicPr>
            <a:picLocks noChangeAspect="1"/>
          </p:cNvPicPr>
          <p:nvPr/>
        </p:nvPicPr>
        <p:blipFill>
          <a:blip r:embed="rId1"/>
          <a:stretch>
            <a:fillRect/>
          </a:stretch>
        </p:blipFill>
        <p:spPr>
          <a:xfrm>
            <a:off x="868680" y="1920240"/>
            <a:ext cx="640080" cy="640080"/>
          </a:xfrm>
          <a:prstGeom prst="rect">
            <a:avLst/>
          </a:prstGeom>
        </p:spPr>
      </p:pic>
      <p:sp>
        <p:nvSpPr>
          <p:cNvPr id="6" name="Text 3"/>
          <p:cNvSpPr/>
          <p:nvPr/>
        </p:nvSpPr>
        <p:spPr>
          <a:xfrm>
            <a:off x="1691640" y="1783080"/>
            <a:ext cx="9692640" cy="1005840"/>
          </a:xfrm>
          <a:prstGeom prst="rect">
            <a:avLst/>
          </a:prstGeom>
          <a:noFill/>
          <a:ln/>
        </p:spPr>
        <p:txBody>
          <a:bodyPr wrap="square" lIns="0" tIns="0" rIns="0" bIns="0" rtlCol="0" anchor="ctr"/>
          <a:lstStyle/>
          <a:p>
            <a:pPr indent="0" marL="0">
              <a:buNone/>
            </a:pPr>
            <a:r>
              <a:rPr lang="en-US" sz="1500" b="1" dirty="0">
                <a:solidFill>
                  <a:srgbClr val="015C63"/>
                </a:solidFill>
                <a:latin typeface="Calibri" pitchFamily="34" charset="0"/>
                <a:ea typeface="Calibri" pitchFamily="34" charset="-122"/>
                <a:cs typeface="Calibri" pitchFamily="34" charset="-120"/>
              </a:rPr>
              <a:t>Objectif : </a:t>
            </a:r>
            <a:pPr indent="0" marL="0">
              <a:buNone/>
            </a:pPr>
            <a:r>
              <a:rPr lang="en-US" sz="1500" dirty="0">
                <a:solidFill>
                  <a:srgbClr val="3A4749"/>
                </a:solidFill>
                <a:latin typeface="Calibri" pitchFamily="34" charset="0"/>
                <a:ea typeface="Calibri" pitchFamily="34" charset="-122"/>
                <a:cs typeface="Calibri" pitchFamily="34" charset="-120"/>
              </a:rPr>
              <a:t>déterminer comment répartir des marchandises depuis plusieurs sources vers plusieurs destinations, de manière à minimiser le coût total de transport, tout en respectant les contraintes d'offre et de demande.</a:t>
            </a:r>
            <a:endParaRPr lang="en-US" sz="1500" dirty="0"/>
          </a:p>
        </p:txBody>
      </p:sp>
      <p:sp>
        <p:nvSpPr>
          <p:cNvPr id="7" name="Text 4"/>
          <p:cNvSpPr/>
          <p:nvPr/>
        </p:nvSpPr>
        <p:spPr>
          <a:xfrm>
            <a:off x="548640" y="3246120"/>
            <a:ext cx="9144000" cy="365760"/>
          </a:xfrm>
          <a:prstGeom prst="rect">
            <a:avLst/>
          </a:prstGeom>
          <a:noFill/>
          <a:ln/>
        </p:spPr>
        <p:txBody>
          <a:bodyPr wrap="square" lIns="0" tIns="0" rIns="0" bIns="0" rtlCol="0" anchor="ctr"/>
          <a:lstStyle/>
          <a:p>
            <a:pPr indent="0" marL="0">
              <a:buNone/>
            </a:pPr>
            <a:r>
              <a:rPr lang="en-US" sz="1500" b="1" dirty="0">
                <a:solidFill>
                  <a:srgbClr val="1E2A2E"/>
                </a:solidFill>
                <a:latin typeface="Calibri" pitchFamily="34" charset="0"/>
                <a:ea typeface="Calibri" pitchFamily="34" charset="-122"/>
                <a:cs typeface="Calibri" pitchFamily="34" charset="-120"/>
              </a:rPr>
              <a:t>Plusieurs méthodes classiques permettent de résoudre ce type de problème :</a:t>
            </a:r>
            <a:endParaRPr lang="en-US" sz="1500" dirty="0"/>
          </a:p>
        </p:txBody>
      </p:sp>
      <p:sp>
        <p:nvSpPr>
          <p:cNvPr id="8" name="Shape 5"/>
          <p:cNvSpPr/>
          <p:nvPr/>
        </p:nvSpPr>
        <p:spPr>
          <a:xfrm>
            <a:off x="548640" y="3749040"/>
            <a:ext cx="3520440" cy="2286000"/>
          </a:xfrm>
          <a:prstGeom prst="roundRect">
            <a:avLst>
              <a:gd name="adj" fmla="val 4000"/>
            </a:avLst>
          </a:prstGeom>
          <a:solidFill>
            <a:srgbClr val="FFFFFF"/>
          </a:solidFill>
          <a:ln/>
          <a:effectLst>
            <a:outerShdw sx="100000" sy="100000" kx="0" ky="0" algn="bl" rotWithShape="0" blurRad="76200" dist="25400" dir="5400000">
              <a:srgbClr val="000000">
                <a:alpha val="8000"/>
              </a:srgbClr>
            </a:outerShdw>
          </a:effectLst>
        </p:spPr>
      </p:sp>
      <p:sp>
        <p:nvSpPr>
          <p:cNvPr id="9" name="Shape 6"/>
          <p:cNvSpPr/>
          <p:nvPr/>
        </p:nvSpPr>
        <p:spPr>
          <a:xfrm>
            <a:off x="822960" y="4023360"/>
            <a:ext cx="548640" cy="548640"/>
          </a:xfrm>
          <a:prstGeom prst="ellipse">
            <a:avLst/>
          </a:prstGeom>
          <a:solidFill>
            <a:srgbClr val="028090"/>
          </a:solidFill>
          <a:ln/>
        </p:spPr>
      </p:sp>
      <p:pic>
        <p:nvPicPr>
          <p:cNvPr id="10" name="Image 1" descr="icon_map_teal.png">    </p:cNvPr>
          <p:cNvPicPr>
            <a:picLocks noChangeAspect="1"/>
          </p:cNvPicPr>
          <p:nvPr/>
        </p:nvPicPr>
        <p:blipFill>
          <a:blip r:embed="rId2"/>
          <a:stretch>
            <a:fillRect/>
          </a:stretch>
        </p:blipFill>
        <p:spPr>
          <a:xfrm>
            <a:off x="950976" y="4151376"/>
            <a:ext cx="292608" cy="292608"/>
          </a:xfrm>
          <a:prstGeom prst="rect">
            <a:avLst/>
          </a:prstGeom>
        </p:spPr>
      </p:pic>
      <p:sp>
        <p:nvSpPr>
          <p:cNvPr id="11" name="Text 7"/>
          <p:cNvSpPr/>
          <p:nvPr/>
        </p:nvSpPr>
        <p:spPr>
          <a:xfrm>
            <a:off x="822960" y="4709160"/>
            <a:ext cx="2971800" cy="365760"/>
          </a:xfrm>
          <a:prstGeom prst="rect">
            <a:avLst/>
          </a:prstGeom>
          <a:noFill/>
          <a:ln/>
        </p:spPr>
        <p:txBody>
          <a:bodyPr wrap="square" lIns="0" tIns="0" rIns="0" bIns="0" rtlCol="0" anchor="ctr"/>
          <a:lstStyle/>
          <a:p>
            <a:pPr indent="0" marL="0">
              <a:buNone/>
            </a:pPr>
            <a:r>
              <a:rPr lang="en-US" sz="1500" b="1" dirty="0">
                <a:solidFill>
                  <a:srgbClr val="1E2A2E"/>
                </a:solidFill>
                <a:latin typeface="Calibri" pitchFamily="34" charset="0"/>
                <a:ea typeface="Calibri" pitchFamily="34" charset="-122"/>
                <a:cs typeface="Calibri" pitchFamily="34" charset="-120"/>
              </a:rPr>
              <a:t>Coin Nord-Ouest</a:t>
            </a:r>
            <a:endParaRPr lang="en-US" sz="1500" dirty="0"/>
          </a:p>
        </p:txBody>
      </p:sp>
      <p:sp>
        <p:nvSpPr>
          <p:cNvPr id="12" name="Text 8"/>
          <p:cNvSpPr/>
          <p:nvPr/>
        </p:nvSpPr>
        <p:spPr>
          <a:xfrm>
            <a:off x="822960" y="5120640"/>
            <a:ext cx="2971800" cy="822960"/>
          </a:xfrm>
          <a:prstGeom prst="rect">
            <a:avLst/>
          </a:prstGeom>
          <a:noFill/>
          <a:ln/>
        </p:spPr>
        <p:txBody>
          <a:bodyPr wrap="square" lIns="0" tIns="0" rIns="0" bIns="0" rtlCol="0" anchor="ctr"/>
          <a:lstStyle/>
          <a:p>
            <a:pPr indent="0" marL="0">
              <a:buNone/>
            </a:pPr>
            <a:r>
              <a:rPr lang="en-US" sz="1200" dirty="0">
                <a:solidFill>
                  <a:srgbClr val="5A6B6D"/>
                </a:solidFill>
                <a:latin typeface="Calibri" pitchFamily="34" charset="0"/>
                <a:ea typeface="Calibri" pitchFamily="34" charset="-122"/>
                <a:cs typeface="Calibri" pitchFamily="34" charset="-120"/>
              </a:rPr>
              <a:t>Solution initiale faisable, sans tenir compte des coûts.</a:t>
            </a:r>
            <a:endParaRPr lang="en-US" sz="1200" dirty="0"/>
          </a:p>
        </p:txBody>
      </p:sp>
      <p:sp>
        <p:nvSpPr>
          <p:cNvPr id="13" name="Shape 9"/>
          <p:cNvSpPr/>
          <p:nvPr/>
        </p:nvSpPr>
        <p:spPr>
          <a:xfrm>
            <a:off x="4343400" y="3749040"/>
            <a:ext cx="3520440" cy="2286000"/>
          </a:xfrm>
          <a:prstGeom prst="roundRect">
            <a:avLst>
              <a:gd name="adj" fmla="val 4000"/>
            </a:avLst>
          </a:prstGeom>
          <a:solidFill>
            <a:srgbClr val="FFFFFF"/>
          </a:solidFill>
          <a:ln/>
          <a:effectLst>
            <a:outerShdw sx="100000" sy="100000" kx="0" ky="0" algn="bl" rotWithShape="0" blurRad="76200" dist="25400" dir="5400000">
              <a:srgbClr val="000000">
                <a:alpha val="8000"/>
              </a:srgbClr>
            </a:outerShdw>
          </a:effectLst>
        </p:spPr>
      </p:sp>
      <p:sp>
        <p:nvSpPr>
          <p:cNvPr id="14" name="Shape 10"/>
          <p:cNvSpPr/>
          <p:nvPr/>
        </p:nvSpPr>
        <p:spPr>
          <a:xfrm>
            <a:off x="4617720" y="4023360"/>
            <a:ext cx="548640" cy="548640"/>
          </a:xfrm>
          <a:prstGeom prst="ellipse">
            <a:avLst/>
          </a:prstGeom>
          <a:solidFill>
            <a:srgbClr val="028090"/>
          </a:solidFill>
          <a:ln/>
        </p:spPr>
      </p:sp>
      <p:pic>
        <p:nvPicPr>
          <p:cNvPr id="15" name="Image 2" descr="icon_calc_teal.png">    </p:cNvPr>
          <p:cNvPicPr>
            <a:picLocks noChangeAspect="1"/>
          </p:cNvPicPr>
          <p:nvPr/>
        </p:nvPicPr>
        <p:blipFill>
          <a:blip r:embed="rId3"/>
          <a:stretch>
            <a:fillRect/>
          </a:stretch>
        </p:blipFill>
        <p:spPr>
          <a:xfrm>
            <a:off x="4745736" y="4151376"/>
            <a:ext cx="292608" cy="292608"/>
          </a:xfrm>
          <a:prstGeom prst="rect">
            <a:avLst/>
          </a:prstGeom>
        </p:spPr>
      </p:pic>
      <p:sp>
        <p:nvSpPr>
          <p:cNvPr id="16" name="Text 11"/>
          <p:cNvSpPr/>
          <p:nvPr/>
        </p:nvSpPr>
        <p:spPr>
          <a:xfrm>
            <a:off x="4617720" y="4709160"/>
            <a:ext cx="2971800" cy="365760"/>
          </a:xfrm>
          <a:prstGeom prst="rect">
            <a:avLst/>
          </a:prstGeom>
          <a:noFill/>
          <a:ln/>
        </p:spPr>
        <p:txBody>
          <a:bodyPr wrap="square" lIns="0" tIns="0" rIns="0" bIns="0" rtlCol="0" anchor="ctr"/>
          <a:lstStyle/>
          <a:p>
            <a:pPr indent="0" marL="0">
              <a:buNone/>
            </a:pPr>
            <a:r>
              <a:rPr lang="en-US" sz="1500" b="1" dirty="0">
                <a:solidFill>
                  <a:srgbClr val="1E2A2E"/>
                </a:solidFill>
                <a:latin typeface="Calibri" pitchFamily="34" charset="0"/>
                <a:ea typeface="Calibri" pitchFamily="34" charset="-122"/>
                <a:cs typeface="Calibri" pitchFamily="34" charset="-120"/>
              </a:rPr>
              <a:t>Moindre coût</a:t>
            </a:r>
            <a:endParaRPr lang="en-US" sz="1500" dirty="0"/>
          </a:p>
        </p:txBody>
      </p:sp>
      <p:sp>
        <p:nvSpPr>
          <p:cNvPr id="17" name="Text 12"/>
          <p:cNvSpPr/>
          <p:nvPr/>
        </p:nvSpPr>
        <p:spPr>
          <a:xfrm>
            <a:off x="4617720" y="5120640"/>
            <a:ext cx="2971800" cy="822960"/>
          </a:xfrm>
          <a:prstGeom prst="rect">
            <a:avLst/>
          </a:prstGeom>
          <a:noFill/>
          <a:ln/>
        </p:spPr>
        <p:txBody>
          <a:bodyPr wrap="square" lIns="0" tIns="0" rIns="0" bIns="0" rtlCol="0" anchor="ctr"/>
          <a:lstStyle/>
          <a:p>
            <a:pPr indent="0" marL="0">
              <a:buNone/>
            </a:pPr>
            <a:r>
              <a:rPr lang="en-US" sz="1200" dirty="0">
                <a:solidFill>
                  <a:srgbClr val="5A6B6D"/>
                </a:solidFill>
                <a:latin typeface="Calibri" pitchFamily="34" charset="0"/>
                <a:ea typeface="Calibri" pitchFamily="34" charset="-122"/>
                <a:cs typeface="Calibri" pitchFamily="34" charset="-120"/>
              </a:rPr>
              <a:t>Priorité aux cellules au coût unitaire le plus faible.</a:t>
            </a:r>
            <a:endParaRPr lang="en-US" sz="1200" dirty="0"/>
          </a:p>
        </p:txBody>
      </p:sp>
      <p:sp>
        <p:nvSpPr>
          <p:cNvPr id="18" name="Shape 13"/>
          <p:cNvSpPr/>
          <p:nvPr/>
        </p:nvSpPr>
        <p:spPr>
          <a:xfrm>
            <a:off x="8138160" y="3749040"/>
            <a:ext cx="3520440" cy="2286000"/>
          </a:xfrm>
          <a:prstGeom prst="roundRect">
            <a:avLst>
              <a:gd name="adj" fmla="val 4000"/>
            </a:avLst>
          </a:prstGeom>
          <a:solidFill>
            <a:srgbClr val="FFFFFF"/>
          </a:solidFill>
          <a:ln/>
          <a:effectLst>
            <a:outerShdw sx="100000" sy="100000" kx="0" ky="0" algn="bl" rotWithShape="0" blurRad="76200" dist="25400" dir="5400000">
              <a:srgbClr val="000000">
                <a:alpha val="8000"/>
              </a:srgbClr>
            </a:outerShdw>
          </a:effectLst>
        </p:spPr>
      </p:sp>
      <p:sp>
        <p:nvSpPr>
          <p:cNvPr id="19" name="Shape 14"/>
          <p:cNvSpPr/>
          <p:nvPr/>
        </p:nvSpPr>
        <p:spPr>
          <a:xfrm>
            <a:off x="8412480" y="4023360"/>
            <a:ext cx="548640" cy="548640"/>
          </a:xfrm>
          <a:prstGeom prst="ellipse">
            <a:avLst/>
          </a:prstGeom>
          <a:solidFill>
            <a:srgbClr val="028090"/>
          </a:solidFill>
          <a:ln/>
        </p:spPr>
      </p:sp>
      <p:pic>
        <p:nvPicPr>
          <p:cNvPr id="20" name="Image 3" descr="icon_chart_teal.png">    </p:cNvPr>
          <p:cNvPicPr>
            <a:picLocks noChangeAspect="1"/>
          </p:cNvPicPr>
          <p:nvPr/>
        </p:nvPicPr>
        <p:blipFill>
          <a:blip r:embed="rId4"/>
          <a:stretch>
            <a:fillRect/>
          </a:stretch>
        </p:blipFill>
        <p:spPr>
          <a:xfrm>
            <a:off x="8540496" y="4151376"/>
            <a:ext cx="292608" cy="292608"/>
          </a:xfrm>
          <a:prstGeom prst="rect">
            <a:avLst/>
          </a:prstGeom>
        </p:spPr>
      </p:pic>
      <p:sp>
        <p:nvSpPr>
          <p:cNvPr id="21" name="Text 15"/>
          <p:cNvSpPr/>
          <p:nvPr/>
        </p:nvSpPr>
        <p:spPr>
          <a:xfrm>
            <a:off x="8412480" y="4709160"/>
            <a:ext cx="2971800" cy="365760"/>
          </a:xfrm>
          <a:prstGeom prst="rect">
            <a:avLst/>
          </a:prstGeom>
          <a:noFill/>
          <a:ln/>
        </p:spPr>
        <p:txBody>
          <a:bodyPr wrap="square" lIns="0" tIns="0" rIns="0" bIns="0" rtlCol="0" anchor="ctr"/>
          <a:lstStyle/>
          <a:p>
            <a:pPr indent="0" marL="0">
              <a:buNone/>
            </a:pPr>
            <a:r>
              <a:rPr lang="en-US" sz="1500" b="1" dirty="0">
                <a:solidFill>
                  <a:srgbClr val="1E2A2E"/>
                </a:solidFill>
                <a:latin typeface="Calibri" pitchFamily="34" charset="0"/>
                <a:ea typeface="Calibri" pitchFamily="34" charset="-122"/>
                <a:cs typeface="Calibri" pitchFamily="34" charset="-120"/>
              </a:rPr>
              <a:t>MODI</a:t>
            </a:r>
            <a:endParaRPr lang="en-US" sz="1500" dirty="0"/>
          </a:p>
        </p:txBody>
      </p:sp>
      <p:sp>
        <p:nvSpPr>
          <p:cNvPr id="22" name="Text 16"/>
          <p:cNvSpPr/>
          <p:nvPr/>
        </p:nvSpPr>
        <p:spPr>
          <a:xfrm>
            <a:off x="8412480" y="5120640"/>
            <a:ext cx="2971800" cy="822960"/>
          </a:xfrm>
          <a:prstGeom prst="rect">
            <a:avLst/>
          </a:prstGeom>
          <a:noFill/>
          <a:ln/>
        </p:spPr>
        <p:txBody>
          <a:bodyPr wrap="square" lIns="0" tIns="0" rIns="0" bIns="0" rtlCol="0" anchor="ctr"/>
          <a:lstStyle/>
          <a:p>
            <a:pPr indent="0" marL="0">
              <a:buNone/>
            </a:pPr>
            <a:r>
              <a:rPr lang="en-US" sz="1200" dirty="0">
                <a:solidFill>
                  <a:srgbClr val="5A6B6D"/>
                </a:solidFill>
                <a:latin typeface="Calibri" pitchFamily="34" charset="0"/>
                <a:ea typeface="Calibri" pitchFamily="34" charset="-122"/>
                <a:cs typeface="Calibri" pitchFamily="34" charset="-120"/>
              </a:rPr>
              <a:t>Vérifie et améliore l'optimalité de la solution.</a:t>
            </a:r>
            <a:endParaRPr lang="en-US" sz="1200" dirty="0"/>
          </a:p>
        </p:txBody>
      </p:sp>
      <p:sp>
        <p:nvSpPr>
          <p:cNvPr id="23" name="Text 17"/>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900" dirty="0">
                <a:solidFill>
                  <a:srgbClr val="7A9A9C"/>
                </a:solidFill>
                <a:latin typeface="Calibri" pitchFamily="34" charset="0"/>
                <a:ea typeface="Calibri" pitchFamily="34" charset="-122"/>
                <a:cs typeface="Calibri" pitchFamily="34" charset="-120"/>
              </a:rPr>
              <a:t>Rapport RO — Recherche Opérationnelle</a:t>
            </a:r>
            <a:endParaRPr lang="en-US" sz="900" dirty="0"/>
          </a:p>
        </p:txBody>
      </p:sp>
      <p:sp>
        <p:nvSpPr>
          <p:cNvPr id="24" name="Text 1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7A9A9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 DONNÉES DE DÉPART</a:t>
            </a:r>
            <a:endParaRPr lang="en-US" sz="1300" dirty="0"/>
          </a:p>
        </p:txBody>
      </p:sp>
      <p:sp>
        <p:nvSpPr>
          <p:cNvPr id="3" name="Text 1"/>
          <p:cNvSpPr/>
          <p:nvPr/>
        </p:nvSpPr>
        <p:spPr>
          <a:xfrm>
            <a:off x="548640" y="777240"/>
            <a:ext cx="8229600" cy="640080"/>
          </a:xfrm>
          <a:prstGeom prst="rect">
            <a:avLst/>
          </a:prstGeom>
          <a:noFill/>
          <a:ln/>
        </p:spPr>
        <p:txBody>
          <a:bodyPr wrap="square" lIns="0" tIns="0" rIns="0" bIns="0" rtlCol="0" anchor="ctr"/>
          <a:lstStyle/>
          <a:p>
            <a:pPr indent="0" marL="0">
              <a:buNone/>
            </a:pPr>
            <a:r>
              <a:rPr lang="en-US" sz="3200" b="1" dirty="0">
                <a:solidFill>
                  <a:srgbClr val="1E2A2E"/>
                </a:solidFill>
                <a:latin typeface="Cambria" pitchFamily="34" charset="0"/>
                <a:ea typeface="Cambria" pitchFamily="34" charset="-122"/>
                <a:cs typeface="Cambria" pitchFamily="34" charset="-120"/>
              </a:rPr>
              <a:t>Les données du problème</a:t>
            </a:r>
            <a:endParaRPr lang="en-US" sz="3200" dirty="0"/>
          </a:p>
        </p:txBody>
      </p:sp>
      <p:sp>
        <p:nvSpPr>
          <p:cNvPr id="4" name="Text 2"/>
          <p:cNvSpPr/>
          <p:nvPr/>
        </p:nvSpPr>
        <p:spPr>
          <a:xfrm>
            <a:off x="548640" y="1371600"/>
            <a:ext cx="10972800" cy="365760"/>
          </a:xfrm>
          <a:prstGeom prst="rect">
            <a:avLst/>
          </a:prstGeom>
          <a:noFill/>
          <a:ln/>
        </p:spPr>
        <p:txBody>
          <a:bodyPr wrap="square" lIns="0" tIns="0" rIns="0" bIns="0" rtlCol="0" anchor="ctr"/>
          <a:lstStyle/>
          <a:p>
            <a:pPr indent="0" marL="0">
              <a:buNone/>
            </a:pPr>
            <a:r>
              <a:rPr lang="en-US" sz="1300" i="1" dirty="0">
                <a:solidFill>
                  <a:srgbClr val="5A6B6D"/>
                </a:solidFill>
                <a:latin typeface="Calibri" pitchFamily="34" charset="0"/>
                <a:ea typeface="Calibri" pitchFamily="34" charset="-122"/>
                <a:cs typeface="Calibri" pitchFamily="34" charset="-120"/>
              </a:rPr>
              <a:t>Objectif : satisfaire toutes les demandes à partir des ressources disponibles, au coût total minimal.</a:t>
            </a:r>
            <a:endParaRPr lang="en-US" sz="1300" dirty="0"/>
          </a:p>
        </p:txBody>
      </p:sp>
      <p:sp>
        <p:nvSpPr>
          <p:cNvPr id="5" name="Shape 3"/>
          <p:cNvSpPr/>
          <p:nvPr/>
        </p:nvSpPr>
        <p:spPr>
          <a:xfrm>
            <a:off x="548640" y="1965960"/>
            <a:ext cx="3383280" cy="1828800"/>
          </a:xfrm>
          <a:prstGeom prst="roundRect">
            <a:avLst>
              <a:gd name="adj" fmla="val 5000"/>
            </a:avLst>
          </a:prstGeom>
          <a:solidFill>
            <a:srgbClr val="015C63"/>
          </a:solidFill>
          <a:ln/>
        </p:spPr>
      </p:sp>
      <p:pic>
        <p:nvPicPr>
          <p:cNvPr id="6" name="Image 0" descr="icon_warehouse.png">    </p:cNvPr>
          <p:cNvPicPr>
            <a:picLocks noChangeAspect="1"/>
          </p:cNvPicPr>
          <p:nvPr/>
        </p:nvPicPr>
        <p:blipFill>
          <a:blip r:embed="rId1"/>
          <a:stretch>
            <a:fillRect/>
          </a:stretch>
        </p:blipFill>
        <p:spPr>
          <a:xfrm>
            <a:off x="822960" y="2194560"/>
            <a:ext cx="457200" cy="457200"/>
          </a:xfrm>
          <a:prstGeom prst="rect">
            <a:avLst/>
          </a:prstGeom>
        </p:spPr>
      </p:pic>
      <p:sp>
        <p:nvSpPr>
          <p:cNvPr id="7" name="Text 4"/>
          <p:cNvSpPr/>
          <p:nvPr/>
        </p:nvSpPr>
        <p:spPr>
          <a:xfrm>
            <a:off x="822960" y="2743200"/>
            <a:ext cx="29260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Sources (offres)</a:t>
            </a:r>
            <a:endParaRPr lang="en-US" sz="1300" dirty="0"/>
          </a:p>
        </p:txBody>
      </p:sp>
      <p:sp>
        <p:nvSpPr>
          <p:cNvPr id="8" name="Text 5"/>
          <p:cNvSpPr/>
          <p:nvPr/>
        </p:nvSpPr>
        <p:spPr>
          <a:xfrm>
            <a:off x="822960" y="3108960"/>
            <a:ext cx="2926080" cy="594360"/>
          </a:xfrm>
          <a:prstGeom prst="rect">
            <a:avLst/>
          </a:prstGeom>
          <a:noFill/>
          <a:ln/>
        </p:spPr>
        <p:txBody>
          <a:bodyPr wrap="square" lIns="0" tIns="0" rIns="0" bIns="0" rtlCol="0" anchor="ctr"/>
          <a:lstStyle/>
          <a:p>
            <a:pPr indent="0" marL="0">
              <a:buNone/>
            </a:pPr>
            <a:r>
              <a:rPr lang="en-US" sz="1300" dirty="0">
                <a:solidFill>
                  <a:srgbClr val="CFEDEA"/>
                </a:solidFill>
                <a:latin typeface="Calibri" pitchFamily="34" charset="0"/>
                <a:ea typeface="Calibri" pitchFamily="34" charset="-122"/>
                <a:cs typeface="Calibri" pitchFamily="34" charset="-120"/>
              </a:rPr>
              <a:t>S1 = 100 unités</a:t>
            </a:r>
            <a:endParaRPr lang="en-US" sz="1300" dirty="0"/>
          </a:p>
          <a:p>
            <a:pPr indent="0" marL="0">
              <a:buNone/>
            </a:pPr>
            <a:r>
              <a:rPr lang="en-US" sz="1300" dirty="0">
                <a:solidFill>
                  <a:srgbClr val="CFEDEA"/>
                </a:solidFill>
                <a:latin typeface="Calibri" pitchFamily="34" charset="0"/>
                <a:ea typeface="Calibri" pitchFamily="34" charset="-122"/>
                <a:cs typeface="Calibri" pitchFamily="34" charset="-120"/>
              </a:rPr>
              <a:t>S2 = 150 unités</a:t>
            </a:r>
            <a:endParaRPr lang="en-US" sz="1300" dirty="0"/>
          </a:p>
        </p:txBody>
      </p:sp>
      <p:sp>
        <p:nvSpPr>
          <p:cNvPr id="9" name="Shape 6"/>
          <p:cNvSpPr/>
          <p:nvPr/>
        </p:nvSpPr>
        <p:spPr>
          <a:xfrm>
            <a:off x="548640" y="3977640"/>
            <a:ext cx="3383280" cy="2148840"/>
          </a:xfrm>
          <a:prstGeom prst="roundRect">
            <a:avLst>
              <a:gd name="adj" fmla="val 4255"/>
            </a:avLst>
          </a:prstGeom>
          <a:solidFill>
            <a:srgbClr val="00A896"/>
          </a:solidFill>
          <a:ln/>
        </p:spPr>
      </p:sp>
      <p:pic>
        <p:nvPicPr>
          <p:cNvPr id="10" name="Image 1" descr="icon_map.png">    </p:cNvPr>
          <p:cNvPicPr>
            <a:picLocks noChangeAspect="1"/>
          </p:cNvPicPr>
          <p:nvPr/>
        </p:nvPicPr>
        <p:blipFill>
          <a:blip r:embed="rId2"/>
          <a:stretch>
            <a:fillRect/>
          </a:stretch>
        </p:blipFill>
        <p:spPr>
          <a:xfrm>
            <a:off x="822960" y="4206240"/>
            <a:ext cx="457200" cy="457200"/>
          </a:xfrm>
          <a:prstGeom prst="rect">
            <a:avLst/>
          </a:prstGeom>
        </p:spPr>
      </p:pic>
      <p:sp>
        <p:nvSpPr>
          <p:cNvPr id="11" name="Text 7"/>
          <p:cNvSpPr/>
          <p:nvPr/>
        </p:nvSpPr>
        <p:spPr>
          <a:xfrm>
            <a:off x="822960" y="4754880"/>
            <a:ext cx="29260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Destinations (demandes)</a:t>
            </a:r>
            <a:endParaRPr lang="en-US" sz="1300" dirty="0"/>
          </a:p>
        </p:txBody>
      </p:sp>
      <p:sp>
        <p:nvSpPr>
          <p:cNvPr id="12" name="Text 8"/>
          <p:cNvSpPr/>
          <p:nvPr/>
        </p:nvSpPr>
        <p:spPr>
          <a:xfrm>
            <a:off x="822960" y="5120640"/>
            <a:ext cx="2926080" cy="914400"/>
          </a:xfrm>
          <a:prstGeom prst="rect">
            <a:avLst/>
          </a:prstGeom>
          <a:noFill/>
          <a:ln/>
        </p:spPr>
        <p:txBody>
          <a:bodyPr wrap="square" lIns="0" tIns="0" rIns="0" bIns="0" rtlCol="0" anchor="ctr"/>
          <a:lstStyle/>
          <a:p>
            <a:pPr indent="0" marL="0">
              <a:buNone/>
            </a:pPr>
            <a:r>
              <a:rPr lang="en-US" sz="1300" dirty="0">
                <a:solidFill>
                  <a:srgbClr val="EAFBF6"/>
                </a:solidFill>
                <a:latin typeface="Calibri" pitchFamily="34" charset="0"/>
                <a:ea typeface="Calibri" pitchFamily="34" charset="-122"/>
                <a:cs typeface="Calibri" pitchFamily="34" charset="-120"/>
              </a:rPr>
              <a:t>D1 = 80 unités</a:t>
            </a:r>
            <a:endParaRPr lang="en-US" sz="1300" dirty="0"/>
          </a:p>
          <a:p>
            <a:pPr indent="0" marL="0">
              <a:buNone/>
            </a:pPr>
            <a:r>
              <a:rPr lang="en-US" sz="1300" dirty="0">
                <a:solidFill>
                  <a:srgbClr val="EAFBF6"/>
                </a:solidFill>
                <a:latin typeface="Calibri" pitchFamily="34" charset="0"/>
                <a:ea typeface="Calibri" pitchFamily="34" charset="-122"/>
                <a:cs typeface="Calibri" pitchFamily="34" charset="-120"/>
              </a:rPr>
              <a:t>D2 = 120 unités</a:t>
            </a:r>
            <a:endParaRPr lang="en-US" sz="1300" dirty="0"/>
          </a:p>
          <a:p>
            <a:pPr indent="0" marL="0">
              <a:buNone/>
            </a:pPr>
            <a:r>
              <a:rPr lang="en-US" sz="1300" dirty="0">
                <a:solidFill>
                  <a:srgbClr val="EAFBF6"/>
                </a:solidFill>
                <a:latin typeface="Calibri" pitchFamily="34" charset="0"/>
                <a:ea typeface="Calibri" pitchFamily="34" charset="-122"/>
                <a:cs typeface="Calibri" pitchFamily="34" charset="-120"/>
              </a:rPr>
              <a:t>D3 = 50 unités</a:t>
            </a:r>
            <a:endParaRPr lang="en-US" sz="1300" dirty="0"/>
          </a:p>
        </p:txBody>
      </p:sp>
      <p:sp>
        <p:nvSpPr>
          <p:cNvPr id="13" name="Text 9"/>
          <p:cNvSpPr/>
          <p:nvPr/>
        </p:nvSpPr>
        <p:spPr>
          <a:xfrm>
            <a:off x="4389120" y="1965960"/>
            <a:ext cx="5486400" cy="320040"/>
          </a:xfrm>
          <a:prstGeom prst="rect">
            <a:avLst/>
          </a:prstGeom>
          <a:noFill/>
          <a:ln/>
        </p:spPr>
        <p:txBody>
          <a:bodyPr wrap="square" lIns="0" tIns="0" rIns="0" bIns="0" rtlCol="0" anchor="ctr"/>
          <a:lstStyle/>
          <a:p>
            <a:pPr indent="0" marL="0">
              <a:buNone/>
            </a:pPr>
            <a:r>
              <a:rPr lang="en-US" sz="1500" b="1" dirty="0">
                <a:solidFill>
                  <a:srgbClr val="1E2A2E"/>
                </a:solidFill>
                <a:latin typeface="Calibri" pitchFamily="34" charset="0"/>
                <a:ea typeface="Calibri" pitchFamily="34" charset="-122"/>
                <a:cs typeface="Calibri" pitchFamily="34" charset="-120"/>
              </a:rPr>
              <a:t>Matrice des coûts unitaires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389120" y="2423160"/>
          <a:ext cx="5120640" cy="1463040"/>
        </p:xfrm>
        <a:graphic>
          <a:graphicData uri="http://schemas.openxmlformats.org/drawingml/2006/table">
            <a:tbl>
              <a:tblPr/>
              <a:tblGrid>
                <a:gridCol w="1097280"/>
                <a:gridCol w="1344168"/>
                <a:gridCol w="1344168"/>
                <a:gridCol w="1335024"/>
              </a:tblGrid>
              <a:tr h="484632">
                <a:tc>
                  <a:txBody>
                    <a:bodyPr/>
                    <a:lstStyle/>
                    <a:p>
                      <a:pP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D1</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D2</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D3</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r>
              <a:tr h="48463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S1</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28090"/>
                    </a:solidFill>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r h="48463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S2</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28090"/>
                    </a:solidFill>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bl>
          </a:graphicData>
        </a:graphic>
      </p:graphicFrame>
      <p:sp>
        <p:nvSpPr>
          <p:cNvPr id="15" name="Shape 10"/>
          <p:cNvSpPr/>
          <p:nvPr/>
        </p:nvSpPr>
        <p:spPr>
          <a:xfrm>
            <a:off x="4389120" y="4160520"/>
            <a:ext cx="7223760" cy="1737360"/>
          </a:xfrm>
          <a:prstGeom prst="roundRect">
            <a:avLst>
              <a:gd name="adj" fmla="val 5263"/>
            </a:avLst>
          </a:prstGeom>
          <a:solidFill>
            <a:srgbClr val="F4F7F7"/>
          </a:solidFill>
          <a:ln/>
        </p:spPr>
      </p:sp>
      <p:sp>
        <p:nvSpPr>
          <p:cNvPr id="16" name="Text 11"/>
          <p:cNvSpPr/>
          <p:nvPr/>
        </p:nvSpPr>
        <p:spPr>
          <a:xfrm>
            <a:off x="4663440" y="4343400"/>
            <a:ext cx="6675120" cy="1371600"/>
          </a:xfrm>
          <a:prstGeom prst="rect">
            <a:avLst/>
          </a:prstGeom>
          <a:noFill/>
          <a:ln/>
        </p:spPr>
        <p:txBody>
          <a:bodyPr wrap="square" lIns="0" tIns="0" rIns="0" bIns="0" rtlCol="0" anchor="t"/>
          <a:lstStyle/>
          <a:p>
            <a:pPr indent="0" marL="0">
              <a:buNone/>
            </a:pPr>
            <a:r>
              <a:rPr lang="en-US" sz="1300" b="1" dirty="0">
                <a:solidFill>
                  <a:srgbClr val="015C63"/>
                </a:solidFill>
                <a:latin typeface="Calibri" pitchFamily="34" charset="0"/>
                <a:ea typeface="Calibri" pitchFamily="34" charset="-122"/>
                <a:cs typeface="Calibri" pitchFamily="34" charset="-120"/>
              </a:rPr>
              <a:t>Deux sources, trois destinations : </a:t>
            </a:r>
            <a:endParaRPr lang="en-US" sz="1300" dirty="0"/>
          </a:p>
          <a:p>
            <a:pPr indent="0" marL="0">
              <a:buNone/>
            </a:pPr>
            <a:r>
              <a:rPr lang="en-US" sz="1300" dirty="0">
                <a:solidFill>
                  <a:srgbClr val="3A4749"/>
                </a:solidFill>
                <a:latin typeface="Calibri" pitchFamily="34" charset="0"/>
                <a:ea typeface="Calibri" pitchFamily="34" charset="-122"/>
                <a:cs typeface="Calibri" pitchFamily="34" charset="-120"/>
              </a:rPr>
              <a:t>le tableau des coûts unitaires ci-dessus servira de base à la construction d'une solution initiale, puis à son optimisation.</a:t>
            </a:r>
            <a:endParaRPr lang="en-US" sz="1300" dirty="0"/>
          </a:p>
        </p:txBody>
      </p:sp>
      <p:sp>
        <p:nvSpPr>
          <p:cNvPr id="17" name="Text 12"/>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900" dirty="0">
                <a:solidFill>
                  <a:srgbClr val="7A9A9C"/>
                </a:solidFill>
                <a:latin typeface="Calibri" pitchFamily="34" charset="0"/>
                <a:ea typeface="Calibri" pitchFamily="34" charset="-122"/>
                <a:cs typeface="Calibri" pitchFamily="34" charset="-120"/>
              </a:rPr>
              <a:t>Rapport RO — Recherche Opérationnelle</a:t>
            </a:r>
            <a:endParaRPr lang="en-US" sz="900" dirty="0"/>
          </a:p>
        </p:txBody>
      </p:sp>
      <p:sp>
        <p:nvSpPr>
          <p:cNvPr id="18" name="Text 13"/>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7A9A9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C. MÉTHODE DE CALCUL</a:t>
            </a:r>
            <a:endParaRPr lang="en-US" sz="1300" dirty="0"/>
          </a:p>
        </p:txBody>
      </p:sp>
      <p:sp>
        <p:nvSpPr>
          <p:cNvPr id="3" name="Text 1"/>
          <p:cNvSpPr/>
          <p:nvPr/>
        </p:nvSpPr>
        <p:spPr>
          <a:xfrm>
            <a:off x="548640" y="777240"/>
            <a:ext cx="9144000" cy="640080"/>
          </a:xfrm>
          <a:prstGeom prst="rect">
            <a:avLst/>
          </a:prstGeom>
          <a:noFill/>
          <a:ln/>
        </p:spPr>
        <p:txBody>
          <a:bodyPr wrap="square" lIns="0" tIns="0" rIns="0" bIns="0" rtlCol="0" anchor="ctr"/>
          <a:lstStyle/>
          <a:p>
            <a:pPr indent="0" marL="0">
              <a:buNone/>
            </a:pPr>
            <a:r>
              <a:rPr lang="en-US" sz="3000" b="1" dirty="0">
                <a:solidFill>
                  <a:srgbClr val="1E2A2E"/>
                </a:solidFill>
                <a:latin typeface="Cambria" pitchFamily="34" charset="0"/>
                <a:ea typeface="Cambria" pitchFamily="34" charset="-122"/>
                <a:cs typeface="Cambria" pitchFamily="34" charset="-120"/>
              </a:rPr>
              <a:t>Méthode du coin Nord-Ouest</a:t>
            </a:r>
            <a:endParaRPr lang="en-US" sz="3000" dirty="0"/>
          </a:p>
        </p:txBody>
      </p:sp>
      <p:sp>
        <p:nvSpPr>
          <p:cNvPr id="4" name="Text 2"/>
          <p:cNvSpPr/>
          <p:nvPr/>
        </p:nvSpPr>
        <p:spPr>
          <a:xfrm>
            <a:off x="548640" y="1600200"/>
            <a:ext cx="4846320" cy="17373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3A4749"/>
                </a:solidFill>
                <a:latin typeface="Calibri" pitchFamily="34" charset="0"/>
                <a:ea typeface="Calibri" pitchFamily="34" charset="-122"/>
                <a:cs typeface="Calibri" pitchFamily="34" charset="-120"/>
              </a:rPr>
              <a:t>Méthode classique permettant d'obtenir une solution initiale faisable.</a:t>
            </a:r>
            <a:endParaRPr lang="en-US" sz="1400" dirty="0"/>
          </a:p>
          <a:p>
            <a:pPr marL="342900" indent="-342900">
              <a:spcAft>
                <a:spcPts val="800"/>
              </a:spcAft>
              <a:buSzPct val="100000"/>
              <a:buChar char="•"/>
            </a:pPr>
            <a:r>
              <a:rPr lang="en-US" sz="1400" dirty="0">
                <a:solidFill>
                  <a:srgbClr val="3A4749"/>
                </a:solidFill>
                <a:latin typeface="Calibri" pitchFamily="34" charset="0"/>
                <a:ea typeface="Calibri" pitchFamily="34" charset="-122"/>
                <a:cs typeface="Calibri" pitchFamily="34" charset="-120"/>
              </a:rPr>
              <a:t>L'allocation commence à la cellule en haut à gauche du tableau.</a:t>
            </a:r>
            <a:endParaRPr lang="en-US" sz="1400" dirty="0"/>
          </a:p>
          <a:p>
            <a:pPr marL="342900" indent="-342900">
              <a:buSzPct val="100000"/>
              <a:buChar char="•"/>
            </a:pPr>
            <a:r>
              <a:rPr lang="en-US" sz="1400" dirty="0">
                <a:solidFill>
                  <a:srgbClr val="3A4749"/>
                </a:solidFill>
                <a:latin typeface="Calibri" pitchFamily="34" charset="0"/>
                <a:ea typeface="Calibri" pitchFamily="34" charset="-122"/>
                <a:cs typeface="Calibri" pitchFamily="34" charset="-120"/>
              </a:rPr>
              <a:t>On satisfait progressivement les contraintes d'offre et de demande.</a:t>
            </a:r>
            <a:endParaRPr lang="en-US" sz="1400" dirty="0"/>
          </a:p>
        </p:txBody>
      </p:sp>
      <p:sp>
        <p:nvSpPr>
          <p:cNvPr id="5" name="Shape 3"/>
          <p:cNvSpPr/>
          <p:nvPr/>
        </p:nvSpPr>
        <p:spPr>
          <a:xfrm>
            <a:off x="548640" y="3429000"/>
            <a:ext cx="4846320" cy="914400"/>
          </a:xfrm>
          <a:prstGeom prst="roundRect">
            <a:avLst>
              <a:gd name="adj" fmla="val 8000"/>
            </a:avLst>
          </a:prstGeom>
          <a:solidFill>
            <a:srgbClr val="015C63"/>
          </a:solidFill>
          <a:ln/>
        </p:spPr>
      </p:sp>
      <p:sp>
        <p:nvSpPr>
          <p:cNvPr id="6" name="Text 4"/>
          <p:cNvSpPr/>
          <p:nvPr/>
        </p:nvSpPr>
        <p:spPr>
          <a:xfrm>
            <a:off x="777240" y="3520440"/>
            <a:ext cx="448056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Règle d'allocation : </a:t>
            </a: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x</a:t>
            </a:r>
            <a:pPr indent="0" marL="0">
              <a:buNone/>
            </a:pPr>
            <a:r>
              <a:rPr lang="en-US" sz="1300" i="1" baseline="-40000" dirty="0">
                <a:solidFill>
                  <a:srgbClr val="FFFFFF"/>
                </a:solidFill>
                <a:latin typeface="Calibri" pitchFamily="34" charset="0"/>
                <a:ea typeface="Calibri" pitchFamily="34" charset="-122"/>
                <a:cs typeface="Calibri" pitchFamily="34" charset="-120"/>
              </a:rPr>
              <a:t>ij</a:t>
            </a:r>
            <a:pPr indent="0" marL="0">
              <a:buNone/>
            </a:pPr>
            <a:r>
              <a:rPr lang="en-US" sz="1300" dirty="0">
                <a:solidFill>
                  <a:srgbClr val="FFFFFF"/>
                </a:solidFill>
                <a:latin typeface="Calibri" pitchFamily="34" charset="0"/>
                <a:ea typeface="Calibri" pitchFamily="34" charset="-122"/>
                <a:cs typeface="Calibri" pitchFamily="34" charset="-120"/>
              </a:rPr>
              <a:t> = min(offre restante, demande restante)</a:t>
            </a:r>
            <a:endParaRPr lang="en-US" sz="1300" dirty="0"/>
          </a:p>
        </p:txBody>
      </p:sp>
      <p:sp>
        <p:nvSpPr>
          <p:cNvPr id="7" name="Text 5"/>
          <p:cNvSpPr/>
          <p:nvPr/>
        </p:nvSpPr>
        <p:spPr>
          <a:xfrm>
            <a:off x="548640" y="4526280"/>
            <a:ext cx="4846320" cy="548640"/>
          </a:xfrm>
          <a:prstGeom prst="rect">
            <a:avLst/>
          </a:prstGeom>
          <a:noFill/>
          <a:ln/>
        </p:spPr>
        <p:txBody>
          <a:bodyPr wrap="square" lIns="0" tIns="0" rIns="0" bIns="0" rtlCol="0" anchor="ctr"/>
          <a:lstStyle/>
          <a:p>
            <a:pPr indent="0" marL="0">
              <a:buNone/>
            </a:pPr>
            <a:r>
              <a:rPr lang="en-US" sz="1200" i="1" dirty="0">
                <a:solidFill>
                  <a:srgbClr val="5A6B6D"/>
                </a:solidFill>
                <a:latin typeface="Calibri" pitchFamily="34" charset="0"/>
                <a:ea typeface="Calibri" pitchFamily="34" charset="-122"/>
                <a:cs typeface="Calibri" pitchFamily="34" charset="-120"/>
              </a:rPr>
              <a:t>Cette méthode ne tient pas compte des coûts de transport.</a:t>
            </a:r>
            <a:endParaRPr lang="en-US" sz="1200" dirty="0"/>
          </a:p>
        </p:txBody>
      </p:sp>
      <p:sp>
        <p:nvSpPr>
          <p:cNvPr id="8" name="Text 6"/>
          <p:cNvSpPr/>
          <p:nvPr/>
        </p:nvSpPr>
        <p:spPr>
          <a:xfrm>
            <a:off x="5760720" y="1600200"/>
            <a:ext cx="5669280" cy="320040"/>
          </a:xfrm>
          <a:prstGeom prst="rect">
            <a:avLst/>
          </a:prstGeom>
          <a:noFill/>
          <a:ln/>
        </p:spPr>
        <p:txBody>
          <a:bodyPr wrap="square" lIns="0" tIns="0" rIns="0" bIns="0" rtlCol="0" anchor="ctr"/>
          <a:lstStyle/>
          <a:p>
            <a:pPr indent="0" marL="0">
              <a:buNone/>
            </a:pPr>
            <a:r>
              <a:rPr lang="en-US" sz="1500" b="1" dirty="0">
                <a:solidFill>
                  <a:srgbClr val="1E2A2E"/>
                </a:solidFill>
                <a:latin typeface="Calibri" pitchFamily="34" charset="0"/>
                <a:ea typeface="Calibri" pitchFamily="34" charset="-122"/>
                <a:cs typeface="Calibri" pitchFamily="34" charset="-120"/>
              </a:rPr>
              <a:t>Solution initiale (coin Nord-Ouest)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760720" y="2011680"/>
          <a:ext cx="5669280" cy="914400"/>
        </p:xfrm>
        <a:graphic>
          <a:graphicData uri="http://schemas.openxmlformats.org/drawingml/2006/table">
            <a:tbl>
              <a:tblPr/>
              <a:tblGrid>
                <a:gridCol w="1280160"/>
                <a:gridCol w="1097280"/>
                <a:gridCol w="1097280"/>
                <a:gridCol w="1097280"/>
                <a:gridCol w="1097280"/>
              </a:tblGrid>
              <a:tr h="457200">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D1</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D2</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D3</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Offre</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r>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S1</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28090"/>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S2</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28090"/>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r h="45720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Demande</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F4F7F7"/>
                    </a:solidFill>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bl>
          </a:graphicData>
        </a:graphic>
      </p:graphicFrame>
      <p:sp>
        <p:nvSpPr>
          <p:cNvPr id="10" name="Shape 7"/>
          <p:cNvSpPr/>
          <p:nvPr/>
        </p:nvSpPr>
        <p:spPr>
          <a:xfrm>
            <a:off x="5760720" y="4206240"/>
            <a:ext cx="5669280" cy="777240"/>
          </a:xfrm>
          <a:prstGeom prst="roundRect">
            <a:avLst>
              <a:gd name="adj" fmla="val 47059"/>
            </a:avLst>
          </a:prstGeom>
          <a:solidFill>
            <a:srgbClr val="02C39A"/>
          </a:solidFill>
          <a:ln/>
        </p:spPr>
      </p:sp>
      <p:pic>
        <p:nvPicPr>
          <p:cNvPr id="11" name="Image 0" descr="icon_calc.png">    </p:cNvPr>
          <p:cNvPicPr>
            <a:picLocks noChangeAspect="1"/>
          </p:cNvPicPr>
          <p:nvPr/>
        </p:nvPicPr>
        <p:blipFill>
          <a:blip r:embed="rId1"/>
          <a:stretch>
            <a:fillRect/>
          </a:stretch>
        </p:blipFill>
        <p:spPr>
          <a:xfrm>
            <a:off x="5989320" y="4379976"/>
            <a:ext cx="411480" cy="411480"/>
          </a:xfrm>
          <a:prstGeom prst="rect">
            <a:avLst/>
          </a:prstGeom>
        </p:spPr>
      </p:pic>
      <p:sp>
        <p:nvSpPr>
          <p:cNvPr id="12" name="Text 8"/>
          <p:cNvSpPr/>
          <p:nvPr/>
        </p:nvSpPr>
        <p:spPr>
          <a:xfrm>
            <a:off x="6537960" y="4206240"/>
            <a:ext cx="475488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Coût total = 1020</a:t>
            </a:r>
            <a:endParaRPr lang="en-US" sz="1800" dirty="0"/>
          </a:p>
        </p:txBody>
      </p:sp>
      <p:sp>
        <p:nvSpPr>
          <p:cNvPr id="13" name="Text 9"/>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900" dirty="0">
                <a:solidFill>
                  <a:srgbClr val="7A9A9C"/>
                </a:solidFill>
                <a:latin typeface="Calibri" pitchFamily="34" charset="0"/>
                <a:ea typeface="Calibri" pitchFamily="34" charset="-122"/>
                <a:cs typeface="Calibri" pitchFamily="34" charset="-120"/>
              </a:rPr>
              <a:t>Rapport RO — Recherche Opérationnelle</a:t>
            </a:r>
            <a:endParaRPr lang="en-US" sz="900" dirty="0"/>
          </a:p>
        </p:txBody>
      </p:sp>
      <p:sp>
        <p:nvSpPr>
          <p:cNvPr id="14" name="Text 10"/>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7A9A9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C. MÉTHODE DE CALCUL</a:t>
            </a:r>
            <a:endParaRPr lang="en-US" sz="1300" dirty="0"/>
          </a:p>
        </p:txBody>
      </p:sp>
      <p:sp>
        <p:nvSpPr>
          <p:cNvPr id="3" name="Text 1"/>
          <p:cNvSpPr/>
          <p:nvPr/>
        </p:nvSpPr>
        <p:spPr>
          <a:xfrm>
            <a:off x="548640" y="777240"/>
            <a:ext cx="8229600" cy="640080"/>
          </a:xfrm>
          <a:prstGeom prst="rect">
            <a:avLst/>
          </a:prstGeom>
          <a:noFill/>
          <a:ln/>
        </p:spPr>
        <p:txBody>
          <a:bodyPr wrap="square" lIns="0" tIns="0" rIns="0" bIns="0" rtlCol="0" anchor="ctr"/>
          <a:lstStyle/>
          <a:p>
            <a:pPr indent="0" marL="0">
              <a:buNone/>
            </a:pPr>
            <a:r>
              <a:rPr lang="en-US" sz="3200" b="1" dirty="0">
                <a:solidFill>
                  <a:srgbClr val="1E2A2E"/>
                </a:solidFill>
                <a:latin typeface="Cambria" pitchFamily="34" charset="0"/>
                <a:ea typeface="Cambria" pitchFamily="34" charset="-122"/>
                <a:cs typeface="Cambria" pitchFamily="34" charset="-120"/>
              </a:rPr>
              <a:t>Méthode MODI</a:t>
            </a:r>
            <a:endParaRPr lang="en-US" sz="3200" dirty="0"/>
          </a:p>
        </p:txBody>
      </p:sp>
      <p:sp>
        <p:nvSpPr>
          <p:cNvPr id="4" name="Text 2"/>
          <p:cNvSpPr/>
          <p:nvPr/>
        </p:nvSpPr>
        <p:spPr>
          <a:xfrm>
            <a:off x="548640" y="1325880"/>
            <a:ext cx="8229600" cy="320040"/>
          </a:xfrm>
          <a:prstGeom prst="rect">
            <a:avLst/>
          </a:prstGeom>
          <a:noFill/>
          <a:ln/>
        </p:spPr>
        <p:txBody>
          <a:bodyPr wrap="square" lIns="0" tIns="0" rIns="0" bIns="0" rtlCol="0" anchor="ctr"/>
          <a:lstStyle/>
          <a:p>
            <a:pPr indent="0" marL="0">
              <a:buNone/>
            </a:pPr>
            <a:r>
              <a:rPr lang="en-US" sz="1400" i="1" dirty="0">
                <a:solidFill>
                  <a:srgbClr val="5A6B6D"/>
                </a:solidFill>
                <a:latin typeface="Calibri" pitchFamily="34" charset="0"/>
                <a:ea typeface="Calibri" pitchFamily="34" charset="-122"/>
                <a:cs typeface="Calibri" pitchFamily="34" charset="-120"/>
              </a:rPr>
              <a:t>Modified Distribution Method</a:t>
            </a:r>
            <a:endParaRPr lang="en-US" sz="1400" dirty="0"/>
          </a:p>
        </p:txBody>
      </p:sp>
      <p:sp>
        <p:nvSpPr>
          <p:cNvPr id="5" name="Text 3"/>
          <p:cNvSpPr/>
          <p:nvPr/>
        </p:nvSpPr>
        <p:spPr>
          <a:xfrm>
            <a:off x="548640" y="1783080"/>
            <a:ext cx="4846320" cy="17373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3A4749"/>
                </a:solidFill>
                <a:latin typeface="Calibri" pitchFamily="34" charset="0"/>
                <a:ea typeface="Calibri" pitchFamily="34" charset="-122"/>
                <a:cs typeface="Calibri" pitchFamily="34" charset="-120"/>
              </a:rPr>
              <a:t>Utilisée pour vérifier l'optimalité d'une solution de transport.</a:t>
            </a:r>
            <a:endParaRPr lang="en-US" sz="1400" dirty="0"/>
          </a:p>
          <a:p>
            <a:pPr marL="342900" indent="-342900">
              <a:spcAft>
                <a:spcPts val="800"/>
              </a:spcAft>
              <a:buSzPct val="100000"/>
              <a:buChar char="•"/>
            </a:pPr>
            <a:r>
              <a:rPr lang="en-US" sz="1400" dirty="0">
                <a:solidFill>
                  <a:srgbClr val="3A4749"/>
                </a:solidFill>
                <a:latin typeface="Calibri" pitchFamily="34" charset="0"/>
                <a:ea typeface="Calibri" pitchFamily="34" charset="-122"/>
                <a:cs typeface="Calibri" pitchFamily="34" charset="-120"/>
              </a:rPr>
              <a:t>Repose sur le calcul des potentiels associés aux lignes et colonnes du tableau.</a:t>
            </a:r>
            <a:endParaRPr lang="en-US" sz="1400" dirty="0"/>
          </a:p>
          <a:p>
            <a:pPr marL="342900" indent="-342900">
              <a:buSzPct val="100000"/>
              <a:buChar char="•"/>
            </a:pPr>
            <a:r>
              <a:rPr lang="en-US" sz="1400" dirty="0">
                <a:solidFill>
                  <a:srgbClr val="3A4749"/>
                </a:solidFill>
                <a:latin typeface="Calibri" pitchFamily="34" charset="0"/>
                <a:ea typeface="Calibri" pitchFamily="34" charset="-122"/>
                <a:cs typeface="Calibri" pitchFamily="34" charset="-120"/>
              </a:rPr>
              <a:t>Permet de déterminer si une amélioration du coût est possible.</a:t>
            </a:r>
            <a:endParaRPr lang="en-US" sz="1400" dirty="0"/>
          </a:p>
        </p:txBody>
      </p:sp>
      <p:sp>
        <p:nvSpPr>
          <p:cNvPr id="6" name="Shape 4"/>
          <p:cNvSpPr/>
          <p:nvPr/>
        </p:nvSpPr>
        <p:spPr>
          <a:xfrm>
            <a:off x="548640" y="3611880"/>
            <a:ext cx="4846320" cy="1234440"/>
          </a:xfrm>
          <a:prstGeom prst="roundRect">
            <a:avLst>
              <a:gd name="adj" fmla="val 5926"/>
            </a:avLst>
          </a:prstGeom>
          <a:solidFill>
            <a:srgbClr val="015C63"/>
          </a:solidFill>
          <a:ln/>
        </p:spPr>
      </p:sp>
      <p:sp>
        <p:nvSpPr>
          <p:cNvPr id="7" name="Text 5"/>
          <p:cNvSpPr/>
          <p:nvPr/>
        </p:nvSpPr>
        <p:spPr>
          <a:xfrm>
            <a:off x="777240" y="3749040"/>
            <a:ext cx="448056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Formule : </a:t>
            </a:r>
            <a:endParaRPr lang="en-US" sz="1500" dirty="0"/>
          </a:p>
          <a:p>
            <a:pPr indent="0" marL="0">
              <a:buNone/>
            </a:pPr>
            <a:r>
              <a:rPr lang="en-US" sz="1500" i="1" dirty="0">
                <a:solidFill>
                  <a:srgbClr val="FFFFFF"/>
                </a:solidFill>
                <a:latin typeface="Calibri" pitchFamily="34" charset="0"/>
                <a:ea typeface="Calibri" pitchFamily="34" charset="-122"/>
                <a:cs typeface="Calibri" pitchFamily="34" charset="-120"/>
              </a:rPr>
              <a:t>Δ</a:t>
            </a:r>
            <a:pPr indent="0" marL="0">
              <a:buNone/>
            </a:pPr>
            <a:r>
              <a:rPr lang="en-US" sz="1500" i="1" baseline="-40000" dirty="0">
                <a:solidFill>
                  <a:srgbClr val="FFFFFF"/>
                </a:solidFill>
                <a:latin typeface="Calibri" pitchFamily="34" charset="0"/>
                <a:ea typeface="Calibri" pitchFamily="34" charset="-122"/>
                <a:cs typeface="Calibri" pitchFamily="34" charset="-120"/>
              </a:rPr>
              <a:t>ij</a:t>
            </a:r>
            <a:pPr indent="0" marL="0">
              <a:buNone/>
            </a:pPr>
            <a:r>
              <a:rPr lang="en-US" sz="1500" i="1" dirty="0">
                <a:solidFill>
                  <a:srgbClr val="FFFFFF"/>
                </a:solidFill>
                <a:latin typeface="Calibri" pitchFamily="34" charset="0"/>
                <a:ea typeface="Calibri" pitchFamily="34" charset="-122"/>
                <a:cs typeface="Calibri" pitchFamily="34" charset="-120"/>
              </a:rPr>
              <a:t> = C</a:t>
            </a:r>
            <a:pPr indent="0" marL="0">
              <a:buNone/>
            </a:pPr>
            <a:r>
              <a:rPr lang="en-US" sz="1500" i="1" baseline="-40000" dirty="0">
                <a:solidFill>
                  <a:srgbClr val="FFFFFF"/>
                </a:solidFill>
                <a:latin typeface="Calibri" pitchFamily="34" charset="0"/>
                <a:ea typeface="Calibri" pitchFamily="34" charset="-122"/>
                <a:cs typeface="Calibri" pitchFamily="34" charset="-120"/>
              </a:rPr>
              <a:t>ij</a:t>
            </a:r>
            <a:pPr indent="0" marL="0">
              <a:buNone/>
            </a:pPr>
            <a:r>
              <a:rPr lang="en-US" sz="1500" i="1" dirty="0">
                <a:solidFill>
                  <a:srgbClr val="FFFFFF"/>
                </a:solidFill>
                <a:latin typeface="Calibri" pitchFamily="34" charset="0"/>
                <a:ea typeface="Calibri" pitchFamily="34" charset="-122"/>
                <a:cs typeface="Calibri" pitchFamily="34" charset="-120"/>
              </a:rPr>
              <a:t> − (u</a:t>
            </a:r>
            <a:pPr indent="0" marL="0">
              <a:buNone/>
            </a:pPr>
            <a:r>
              <a:rPr lang="en-US" sz="1500" i="1" baseline="-40000" dirty="0">
                <a:solidFill>
                  <a:srgbClr val="FFFFFF"/>
                </a:solidFill>
                <a:latin typeface="Calibri" pitchFamily="34" charset="0"/>
                <a:ea typeface="Calibri" pitchFamily="34" charset="-122"/>
                <a:cs typeface="Calibri" pitchFamily="34" charset="-120"/>
              </a:rPr>
              <a:t>i</a:t>
            </a:r>
            <a:pPr indent="0" marL="0">
              <a:buNone/>
            </a:pPr>
            <a:r>
              <a:rPr lang="en-US" sz="1500" i="1" dirty="0">
                <a:solidFill>
                  <a:srgbClr val="FFFFFF"/>
                </a:solidFill>
                <a:latin typeface="Calibri" pitchFamily="34" charset="0"/>
                <a:ea typeface="Calibri" pitchFamily="34" charset="-122"/>
                <a:cs typeface="Calibri" pitchFamily="34" charset="-120"/>
              </a:rPr>
              <a:t> + v</a:t>
            </a:r>
            <a:pPr indent="0" marL="0">
              <a:buNone/>
            </a:pPr>
            <a:r>
              <a:rPr lang="en-US" sz="1500" i="1" baseline="-40000" dirty="0">
                <a:solidFill>
                  <a:srgbClr val="FFFFFF"/>
                </a:solidFill>
                <a:latin typeface="Calibri" pitchFamily="34" charset="0"/>
                <a:ea typeface="Calibri" pitchFamily="34" charset="-122"/>
                <a:cs typeface="Calibri" pitchFamily="34" charset="-120"/>
              </a:rPr>
              <a:t>j</a:t>
            </a:r>
            <a:pPr indent="0" marL="0">
              <a:spcAft>
                <a:spcPts val="400"/>
              </a:spcAft>
              <a:buNone/>
            </a:pPr>
            <a:r>
              <a:rPr lang="en-US" sz="1500" i="1" dirty="0">
                <a:solidFill>
                  <a:srgbClr val="FFFFFF"/>
                </a:solidFill>
                <a:latin typeface="Calibri" pitchFamily="34" charset="0"/>
                <a:ea typeface="Calibri" pitchFamily="34" charset="-122"/>
                <a:cs typeface="Calibri" pitchFamily="34" charset="-120"/>
              </a:rPr>
              <a:t>)</a:t>
            </a:r>
            <a:endParaRPr lang="en-US" sz="1500" dirty="0"/>
          </a:p>
          <a:p>
            <a:pPr indent="0" marL="0">
              <a:buNone/>
            </a:pPr>
            <a:r>
              <a:rPr lang="en-US" sz="1200" i="1" dirty="0">
                <a:solidFill>
                  <a:srgbClr val="FFFFFF"/>
                </a:solidFill>
                <a:latin typeface="Calibri" pitchFamily="34" charset="0"/>
                <a:ea typeface="Calibri" pitchFamily="34" charset="-122"/>
                <a:cs typeface="Calibri" pitchFamily="34" charset="-120"/>
              </a:rPr>
              <a:t>Si tous les Δij ≥ 0, la solution est optimale. Sinon, elle peut être améliorée.</a:t>
            </a:r>
            <a:endParaRPr lang="en-US" sz="1500" dirty="0"/>
          </a:p>
        </p:txBody>
      </p:sp>
      <p:sp>
        <p:nvSpPr>
          <p:cNvPr id="8" name="Text 6"/>
          <p:cNvSpPr/>
          <p:nvPr/>
        </p:nvSpPr>
        <p:spPr>
          <a:xfrm>
            <a:off x="5760720" y="1783080"/>
            <a:ext cx="5669280" cy="320040"/>
          </a:xfrm>
          <a:prstGeom prst="rect">
            <a:avLst/>
          </a:prstGeom>
          <a:noFill/>
          <a:ln/>
        </p:spPr>
        <p:txBody>
          <a:bodyPr wrap="square" lIns="0" tIns="0" rIns="0" bIns="0" rtlCol="0" anchor="ctr"/>
          <a:lstStyle/>
          <a:p>
            <a:pPr indent="0" marL="0">
              <a:buNone/>
            </a:pPr>
            <a:r>
              <a:rPr lang="en-US" sz="1500" b="1" dirty="0">
                <a:solidFill>
                  <a:srgbClr val="1E2A2E"/>
                </a:solidFill>
                <a:latin typeface="Calibri" pitchFamily="34" charset="0"/>
                <a:ea typeface="Calibri" pitchFamily="34" charset="-122"/>
                <a:cs typeface="Calibri" pitchFamily="34" charset="-120"/>
              </a:rPr>
              <a:t>Solution après application de MODI</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60720" y="2194560"/>
          <a:ext cx="5669280" cy="914400"/>
        </p:xfrm>
        <a:graphic>
          <a:graphicData uri="http://schemas.openxmlformats.org/drawingml/2006/table">
            <a:tbl>
              <a:tblPr/>
              <a:tblGrid>
                <a:gridCol w="1280160"/>
                <a:gridCol w="1097280"/>
                <a:gridCol w="1097280"/>
                <a:gridCol w="1097280"/>
                <a:gridCol w="1097280"/>
              </a:tblGrid>
              <a:tr h="457200">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D1</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D2</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D3</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Offre</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r>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S1</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28090"/>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S2</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28090"/>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r h="45720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Demande</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F4F7F7"/>
                    </a:solidFill>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bl>
          </a:graphicData>
        </a:graphic>
      </p:graphicFrame>
      <p:sp>
        <p:nvSpPr>
          <p:cNvPr id="10" name="Shape 7"/>
          <p:cNvSpPr/>
          <p:nvPr/>
        </p:nvSpPr>
        <p:spPr>
          <a:xfrm>
            <a:off x="5760720" y="4389120"/>
            <a:ext cx="5669280" cy="777240"/>
          </a:xfrm>
          <a:prstGeom prst="roundRect">
            <a:avLst>
              <a:gd name="adj" fmla="val 47059"/>
            </a:avLst>
          </a:prstGeom>
          <a:solidFill>
            <a:srgbClr val="02C39A"/>
          </a:solidFill>
          <a:ln/>
        </p:spPr>
      </p:sp>
      <p:pic>
        <p:nvPicPr>
          <p:cNvPr id="11" name="Image 0" descr="icon_calc.png">    </p:cNvPr>
          <p:cNvPicPr>
            <a:picLocks noChangeAspect="1"/>
          </p:cNvPicPr>
          <p:nvPr/>
        </p:nvPicPr>
        <p:blipFill>
          <a:blip r:embed="rId1"/>
          <a:stretch>
            <a:fillRect/>
          </a:stretch>
        </p:blipFill>
        <p:spPr>
          <a:xfrm>
            <a:off x="5989320" y="4562856"/>
            <a:ext cx="411480" cy="411480"/>
          </a:xfrm>
          <a:prstGeom prst="rect">
            <a:avLst/>
          </a:prstGeom>
        </p:spPr>
      </p:pic>
      <p:sp>
        <p:nvSpPr>
          <p:cNvPr id="12" name="Text 8"/>
          <p:cNvSpPr/>
          <p:nvPr/>
        </p:nvSpPr>
        <p:spPr>
          <a:xfrm>
            <a:off x="6537960" y="4389120"/>
            <a:ext cx="475488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Coût total = 900</a:t>
            </a:r>
            <a:endParaRPr lang="en-US" sz="1800" dirty="0"/>
          </a:p>
        </p:txBody>
      </p:sp>
      <p:sp>
        <p:nvSpPr>
          <p:cNvPr id="13" name="Text 9"/>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900" dirty="0">
                <a:solidFill>
                  <a:srgbClr val="7A9A9C"/>
                </a:solidFill>
                <a:latin typeface="Calibri" pitchFamily="34" charset="0"/>
                <a:ea typeface="Calibri" pitchFamily="34" charset="-122"/>
                <a:cs typeface="Calibri" pitchFamily="34" charset="-120"/>
              </a:rPr>
              <a:t>Rapport RO — Recherche Opérationnelle</a:t>
            </a:r>
            <a:endParaRPr lang="en-US" sz="900" dirty="0"/>
          </a:p>
        </p:txBody>
      </p:sp>
      <p:sp>
        <p:nvSpPr>
          <p:cNvPr id="14" name="Text 10"/>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7A9A9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C. MÉTHODE DE CALCUL</a:t>
            </a:r>
            <a:endParaRPr lang="en-US" sz="1300" dirty="0"/>
          </a:p>
        </p:txBody>
      </p:sp>
      <p:sp>
        <p:nvSpPr>
          <p:cNvPr id="3" name="Text 1"/>
          <p:cNvSpPr/>
          <p:nvPr/>
        </p:nvSpPr>
        <p:spPr>
          <a:xfrm>
            <a:off x="548640" y="777240"/>
            <a:ext cx="8229600" cy="640080"/>
          </a:xfrm>
          <a:prstGeom prst="rect">
            <a:avLst/>
          </a:prstGeom>
          <a:noFill/>
          <a:ln/>
        </p:spPr>
        <p:txBody>
          <a:bodyPr wrap="square" lIns="0" tIns="0" rIns="0" bIns="0" rtlCol="0" anchor="ctr"/>
          <a:lstStyle/>
          <a:p>
            <a:pPr indent="0" marL="0">
              <a:buNone/>
            </a:pPr>
            <a:r>
              <a:rPr lang="en-US" sz="3000" b="1" dirty="0">
                <a:solidFill>
                  <a:srgbClr val="1E2A2E"/>
                </a:solidFill>
                <a:latin typeface="Cambria" pitchFamily="34" charset="0"/>
                <a:ea typeface="Cambria" pitchFamily="34" charset="-122"/>
                <a:cs typeface="Cambria" pitchFamily="34" charset="-120"/>
              </a:rPr>
              <a:t>Méthode du moindre coût</a:t>
            </a:r>
            <a:endParaRPr lang="en-US" sz="3000" dirty="0"/>
          </a:p>
        </p:txBody>
      </p:sp>
      <p:sp>
        <p:nvSpPr>
          <p:cNvPr id="4" name="Text 2"/>
          <p:cNvSpPr/>
          <p:nvPr/>
        </p:nvSpPr>
        <p:spPr>
          <a:xfrm>
            <a:off x="548640" y="1508760"/>
            <a:ext cx="10515600" cy="822960"/>
          </a:xfrm>
          <a:prstGeom prst="rect">
            <a:avLst/>
          </a:prstGeom>
          <a:noFill/>
          <a:ln/>
        </p:spPr>
        <p:txBody>
          <a:bodyPr wrap="square" lIns="0" tIns="0" rIns="0" bIns="0" rtlCol="0" anchor="ctr"/>
          <a:lstStyle/>
          <a:p>
            <a:pPr indent="0" marL="0">
              <a:buNone/>
            </a:pPr>
            <a:r>
              <a:rPr lang="en-US" sz="1500" dirty="0">
                <a:solidFill>
                  <a:srgbClr val="3A4749"/>
                </a:solidFill>
                <a:latin typeface="Calibri" pitchFamily="34" charset="0"/>
                <a:ea typeface="Calibri" pitchFamily="34" charset="-122"/>
                <a:cs typeface="Calibri" pitchFamily="34" charset="-120"/>
              </a:rPr>
              <a:t>Principe : affecter en priorité les quantités aux cellules ayant le coût unitaire le plus faible, afin de réduire le coût total dès la solution initiale.</a:t>
            </a:r>
            <a:endParaRPr lang="en-US" sz="1500" dirty="0"/>
          </a:p>
        </p:txBody>
      </p:sp>
      <p:sp>
        <p:nvSpPr>
          <p:cNvPr id="5" name="Shape 3"/>
          <p:cNvSpPr/>
          <p:nvPr/>
        </p:nvSpPr>
        <p:spPr>
          <a:xfrm>
            <a:off x="548640" y="2514600"/>
            <a:ext cx="3520440" cy="1463040"/>
          </a:xfrm>
          <a:prstGeom prst="roundRect">
            <a:avLst>
              <a:gd name="adj" fmla="val 6250"/>
            </a:avLst>
          </a:prstGeom>
          <a:solidFill>
            <a:srgbClr val="FFFFFF"/>
          </a:solidFill>
          <a:ln/>
          <a:effectLst>
            <a:outerShdw sx="100000" sy="100000" kx="0" ky="0" algn="bl" rotWithShape="0" blurRad="76200" dist="25400" dir="5400000">
              <a:srgbClr val="000000">
                <a:alpha val="8000"/>
              </a:srgbClr>
            </a:outerShdw>
          </a:effectLst>
        </p:spPr>
      </p:sp>
      <p:sp>
        <p:nvSpPr>
          <p:cNvPr id="6" name="Shape 4"/>
          <p:cNvSpPr/>
          <p:nvPr/>
        </p:nvSpPr>
        <p:spPr>
          <a:xfrm>
            <a:off x="822960" y="2240280"/>
            <a:ext cx="548640" cy="548640"/>
          </a:xfrm>
          <a:prstGeom prst="ellipse">
            <a:avLst/>
          </a:prstGeom>
          <a:solidFill>
            <a:srgbClr val="00A896"/>
          </a:solidFill>
          <a:ln/>
        </p:spPr>
      </p:sp>
      <p:sp>
        <p:nvSpPr>
          <p:cNvPr id="7" name="Text 5"/>
          <p:cNvSpPr/>
          <p:nvPr/>
        </p:nvSpPr>
        <p:spPr>
          <a:xfrm>
            <a:off x="822960" y="22402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822960" y="2926080"/>
            <a:ext cx="2971800" cy="914400"/>
          </a:xfrm>
          <a:prstGeom prst="rect">
            <a:avLst/>
          </a:prstGeom>
          <a:noFill/>
          <a:ln/>
        </p:spPr>
        <p:txBody>
          <a:bodyPr wrap="square" lIns="0" tIns="0" rIns="0" bIns="0" rtlCol="0" anchor="ctr"/>
          <a:lstStyle/>
          <a:p>
            <a:pPr indent="0" marL="0">
              <a:buNone/>
            </a:pPr>
            <a:r>
              <a:rPr lang="en-US" sz="1300" dirty="0">
                <a:solidFill>
                  <a:srgbClr val="3A4749"/>
                </a:solidFill>
                <a:latin typeface="Calibri" pitchFamily="34" charset="0"/>
                <a:ea typeface="Calibri" pitchFamily="34" charset="-122"/>
                <a:cs typeface="Calibri" pitchFamily="34" charset="-120"/>
              </a:rPr>
              <a:t>Choisir la cellule avec le coût minimal</a:t>
            </a:r>
            <a:endParaRPr lang="en-US" sz="1300" dirty="0"/>
          </a:p>
        </p:txBody>
      </p:sp>
      <p:sp>
        <p:nvSpPr>
          <p:cNvPr id="9" name="Shape 7"/>
          <p:cNvSpPr/>
          <p:nvPr/>
        </p:nvSpPr>
        <p:spPr>
          <a:xfrm>
            <a:off x="4343400" y="2514600"/>
            <a:ext cx="3520440" cy="1463040"/>
          </a:xfrm>
          <a:prstGeom prst="roundRect">
            <a:avLst>
              <a:gd name="adj" fmla="val 6250"/>
            </a:avLst>
          </a:prstGeom>
          <a:solidFill>
            <a:srgbClr val="FFFFFF"/>
          </a:solidFill>
          <a:ln/>
          <a:effectLst>
            <a:outerShdw sx="100000" sy="100000" kx="0" ky="0" algn="bl" rotWithShape="0" blurRad="76200" dist="25400" dir="5400000">
              <a:srgbClr val="000000">
                <a:alpha val="8000"/>
              </a:srgbClr>
            </a:outerShdw>
          </a:effectLst>
        </p:spPr>
      </p:sp>
      <p:sp>
        <p:nvSpPr>
          <p:cNvPr id="10" name="Shape 8"/>
          <p:cNvSpPr/>
          <p:nvPr/>
        </p:nvSpPr>
        <p:spPr>
          <a:xfrm>
            <a:off x="4617720" y="2240280"/>
            <a:ext cx="548640" cy="548640"/>
          </a:xfrm>
          <a:prstGeom prst="ellipse">
            <a:avLst/>
          </a:prstGeom>
          <a:solidFill>
            <a:srgbClr val="00A896"/>
          </a:solidFill>
          <a:ln/>
        </p:spPr>
      </p:sp>
      <p:sp>
        <p:nvSpPr>
          <p:cNvPr id="11" name="Text 9"/>
          <p:cNvSpPr/>
          <p:nvPr/>
        </p:nvSpPr>
        <p:spPr>
          <a:xfrm>
            <a:off x="4617720" y="22402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4617720" y="2926080"/>
            <a:ext cx="2971800" cy="914400"/>
          </a:xfrm>
          <a:prstGeom prst="rect">
            <a:avLst/>
          </a:prstGeom>
          <a:noFill/>
          <a:ln/>
        </p:spPr>
        <p:txBody>
          <a:bodyPr wrap="square" lIns="0" tIns="0" rIns="0" bIns="0" rtlCol="0" anchor="ctr"/>
          <a:lstStyle/>
          <a:p>
            <a:pPr indent="0" marL="0">
              <a:buNone/>
            </a:pPr>
            <a:r>
              <a:rPr lang="en-US" sz="1300" dirty="0">
                <a:solidFill>
                  <a:srgbClr val="3A4749"/>
                </a:solidFill>
                <a:latin typeface="Calibri" pitchFamily="34" charset="0"/>
                <a:ea typeface="Calibri" pitchFamily="34" charset="-122"/>
                <a:cs typeface="Calibri" pitchFamily="34" charset="-120"/>
              </a:rPr>
              <a:t>Affecter la quantité maximale possible</a:t>
            </a:r>
            <a:endParaRPr lang="en-US" sz="1300" dirty="0"/>
          </a:p>
        </p:txBody>
      </p:sp>
      <p:sp>
        <p:nvSpPr>
          <p:cNvPr id="13" name="Shape 11"/>
          <p:cNvSpPr/>
          <p:nvPr/>
        </p:nvSpPr>
        <p:spPr>
          <a:xfrm>
            <a:off x="8138160" y="2514600"/>
            <a:ext cx="3520440" cy="1463040"/>
          </a:xfrm>
          <a:prstGeom prst="roundRect">
            <a:avLst>
              <a:gd name="adj" fmla="val 6250"/>
            </a:avLst>
          </a:prstGeom>
          <a:solidFill>
            <a:srgbClr val="FFFFFF"/>
          </a:solidFill>
          <a:ln/>
          <a:effectLst>
            <a:outerShdw sx="100000" sy="100000" kx="0" ky="0" algn="bl" rotWithShape="0" blurRad="76200" dist="25400" dir="5400000">
              <a:srgbClr val="000000">
                <a:alpha val="8000"/>
              </a:srgbClr>
            </a:outerShdw>
          </a:effectLst>
        </p:spPr>
      </p:sp>
      <p:sp>
        <p:nvSpPr>
          <p:cNvPr id="14" name="Shape 12"/>
          <p:cNvSpPr/>
          <p:nvPr/>
        </p:nvSpPr>
        <p:spPr>
          <a:xfrm>
            <a:off x="8412480" y="2240280"/>
            <a:ext cx="548640" cy="548640"/>
          </a:xfrm>
          <a:prstGeom prst="ellipse">
            <a:avLst/>
          </a:prstGeom>
          <a:solidFill>
            <a:srgbClr val="00A896"/>
          </a:solidFill>
          <a:ln/>
        </p:spPr>
      </p:sp>
      <p:sp>
        <p:nvSpPr>
          <p:cNvPr id="15" name="Text 13"/>
          <p:cNvSpPr/>
          <p:nvPr/>
        </p:nvSpPr>
        <p:spPr>
          <a:xfrm>
            <a:off x="8412480" y="22402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8412480" y="2926080"/>
            <a:ext cx="2971800" cy="914400"/>
          </a:xfrm>
          <a:prstGeom prst="rect">
            <a:avLst/>
          </a:prstGeom>
          <a:noFill/>
          <a:ln/>
        </p:spPr>
        <p:txBody>
          <a:bodyPr wrap="square" lIns="0" tIns="0" rIns="0" bIns="0" rtlCol="0" anchor="ctr"/>
          <a:lstStyle/>
          <a:p>
            <a:pPr indent="0" marL="0">
              <a:buNone/>
            </a:pPr>
            <a:r>
              <a:rPr lang="en-US" sz="1300" dirty="0">
                <a:solidFill>
                  <a:srgbClr val="3A4749"/>
                </a:solidFill>
                <a:latin typeface="Calibri" pitchFamily="34" charset="0"/>
                <a:ea typeface="Calibri" pitchFamily="34" charset="-122"/>
                <a:cs typeface="Calibri" pitchFamily="34" charset="-120"/>
              </a:rPr>
              <a:t>Mettre à jour les offres et demandes</a:t>
            </a:r>
            <a:endParaRPr lang="en-US" sz="1300" dirty="0"/>
          </a:p>
        </p:txBody>
      </p:sp>
      <p:sp>
        <p:nvSpPr>
          <p:cNvPr id="17" name="Shape 15"/>
          <p:cNvSpPr/>
          <p:nvPr/>
        </p:nvSpPr>
        <p:spPr>
          <a:xfrm>
            <a:off x="548640" y="4343400"/>
            <a:ext cx="11064240" cy="1554480"/>
          </a:xfrm>
          <a:prstGeom prst="roundRect">
            <a:avLst>
              <a:gd name="adj" fmla="val 5882"/>
            </a:avLst>
          </a:prstGeom>
          <a:solidFill>
            <a:srgbClr val="015C63"/>
          </a:solidFill>
          <a:ln/>
        </p:spPr>
      </p:sp>
      <p:pic>
        <p:nvPicPr>
          <p:cNvPr id="18" name="Image 0" descr="icon_code.png">    </p:cNvPr>
          <p:cNvPicPr>
            <a:picLocks noChangeAspect="1"/>
          </p:cNvPicPr>
          <p:nvPr/>
        </p:nvPicPr>
        <p:blipFill>
          <a:blip r:embed="rId1"/>
          <a:stretch>
            <a:fillRect/>
          </a:stretch>
        </p:blipFill>
        <p:spPr>
          <a:xfrm>
            <a:off x="868680" y="4663440"/>
            <a:ext cx="640080" cy="640080"/>
          </a:xfrm>
          <a:prstGeom prst="rect">
            <a:avLst/>
          </a:prstGeom>
        </p:spPr>
      </p:pic>
      <p:sp>
        <p:nvSpPr>
          <p:cNvPr id="19" name="Text 16"/>
          <p:cNvSpPr/>
          <p:nvPr/>
        </p:nvSpPr>
        <p:spPr>
          <a:xfrm>
            <a:off x="1691640" y="4526280"/>
            <a:ext cx="9601200" cy="1234440"/>
          </a:xfrm>
          <a:prstGeom prst="rect">
            <a:avLst/>
          </a:prstGeom>
          <a:noFill/>
          <a:ln/>
        </p:spPr>
        <p:txBody>
          <a:bodyPr wrap="square" lIns="0" tIns="0" rIns="0" bIns="0" rtlCol="0" anchor="t"/>
          <a:lstStyle/>
          <a:p>
            <a:pPr indent="0" marL="0">
              <a:spcAft>
                <a:spcPts val="400"/>
              </a:spcAft>
              <a:buNone/>
            </a:pPr>
            <a:r>
              <a:rPr lang="en-US" sz="1400" b="1" dirty="0">
                <a:solidFill>
                  <a:srgbClr val="FFFFFF"/>
                </a:solidFill>
                <a:latin typeface="Calibri" pitchFamily="34" charset="0"/>
                <a:ea typeface="Calibri" pitchFamily="34" charset="-122"/>
                <a:cs typeface="Calibri" pitchFamily="34" charset="-120"/>
              </a:rPr>
              <a:t>Vers la résolution informatique</a:t>
            </a:r>
            <a:endParaRPr lang="en-US" sz="1400" dirty="0"/>
          </a:p>
          <a:p>
            <a:pPr indent="0" marL="0">
              <a:buNone/>
            </a:pPr>
            <a:r>
              <a:rPr lang="en-US" sz="1300" dirty="0">
                <a:solidFill>
                  <a:srgbClr val="CFEDEA"/>
                </a:solidFill>
                <a:latin typeface="Calibri" pitchFamily="34" charset="0"/>
                <a:ea typeface="Calibri" pitchFamily="34" charset="-122"/>
                <a:cs typeface="Calibri" pitchFamily="34" charset="-120"/>
              </a:rPr>
              <a:t>Ces méthodes manuelles montrent la logique du problème, mais deviennent lourdes lorsque le problème grandit. La solution optimale peut alors être obtenue directement par programmation linéaire, modélisée et résolue en Python à l'aide de la bibliothèque PuLP.</a:t>
            </a:r>
            <a:endParaRPr lang="en-US" sz="1400" dirty="0"/>
          </a:p>
        </p:txBody>
      </p:sp>
      <p:sp>
        <p:nvSpPr>
          <p:cNvPr id="20" name="Text 17"/>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900" dirty="0">
                <a:solidFill>
                  <a:srgbClr val="7A9A9C"/>
                </a:solidFill>
                <a:latin typeface="Calibri" pitchFamily="34" charset="0"/>
                <a:ea typeface="Calibri" pitchFamily="34" charset="-122"/>
                <a:cs typeface="Calibri" pitchFamily="34" charset="-120"/>
              </a:rPr>
              <a:t>Rapport RO — Recherche Opérationnelle</a:t>
            </a:r>
            <a:endParaRPr lang="en-US" sz="900" dirty="0"/>
          </a:p>
        </p:txBody>
      </p:sp>
      <p:sp>
        <p:nvSpPr>
          <p:cNvPr id="21" name="Text 1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7A9A9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15C63"/>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9FCFCD"/>
                </a:solidFill>
                <a:latin typeface="Calibri" pitchFamily="34" charset="0"/>
                <a:ea typeface="Calibri" pitchFamily="34" charset="-122"/>
                <a:cs typeface="Calibri" pitchFamily="34" charset="-120"/>
              </a:rPr>
              <a:t>D. RÉSOLUTION INFORMATIQUE</a:t>
            </a:r>
            <a:endParaRPr lang="en-US" sz="1300" dirty="0"/>
          </a:p>
        </p:txBody>
      </p:sp>
      <p:sp>
        <p:nvSpPr>
          <p:cNvPr id="3" name="Text 1"/>
          <p:cNvSpPr/>
          <p:nvPr/>
        </p:nvSpPr>
        <p:spPr>
          <a:xfrm>
            <a:off x="548640" y="777240"/>
            <a:ext cx="91440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Modélisation en Python avec PuLP</a:t>
            </a:r>
            <a:endParaRPr lang="en-US" sz="2800" dirty="0"/>
          </a:p>
        </p:txBody>
      </p:sp>
      <p:sp>
        <p:nvSpPr>
          <p:cNvPr id="4" name="Text 2"/>
          <p:cNvSpPr/>
          <p:nvPr/>
        </p:nvSpPr>
        <p:spPr>
          <a:xfrm>
            <a:off x="548640" y="1325880"/>
            <a:ext cx="9144000" cy="320040"/>
          </a:xfrm>
          <a:prstGeom prst="rect">
            <a:avLst/>
          </a:prstGeom>
          <a:noFill/>
          <a:ln/>
        </p:spPr>
        <p:txBody>
          <a:bodyPr wrap="square" lIns="0" tIns="0" rIns="0" bIns="0" rtlCol="0" anchor="ctr"/>
          <a:lstStyle/>
          <a:p>
            <a:pPr indent="0" marL="0">
              <a:buNone/>
            </a:pPr>
            <a:r>
              <a:rPr lang="en-US" sz="1300" i="1" dirty="0">
                <a:solidFill>
                  <a:srgbClr val="9FCFCD"/>
                </a:solidFill>
                <a:latin typeface="Calibri" pitchFamily="34" charset="0"/>
                <a:ea typeface="Calibri" pitchFamily="34" charset="-122"/>
                <a:cs typeface="Calibri" pitchFamily="34" charset="-120"/>
              </a:rPr>
              <a:t>Programmation linéaire pour résoudre directement le problème de transport</a:t>
            </a:r>
            <a:endParaRPr lang="en-US" sz="1300" dirty="0"/>
          </a:p>
        </p:txBody>
      </p:sp>
      <p:sp>
        <p:nvSpPr>
          <p:cNvPr id="5" name="Shape 3"/>
          <p:cNvSpPr/>
          <p:nvPr/>
        </p:nvSpPr>
        <p:spPr>
          <a:xfrm>
            <a:off x="548640" y="1828800"/>
            <a:ext cx="6766560" cy="4480560"/>
          </a:xfrm>
          <a:prstGeom prst="roundRect">
            <a:avLst>
              <a:gd name="adj" fmla="val 1633"/>
            </a:avLst>
          </a:prstGeom>
          <a:solidFill>
            <a:srgbClr val="0B2E30"/>
          </a:solidFill>
          <a:ln/>
        </p:spPr>
      </p:sp>
      <p:sp>
        <p:nvSpPr>
          <p:cNvPr id="6" name="Text 4"/>
          <p:cNvSpPr/>
          <p:nvPr/>
        </p:nvSpPr>
        <p:spPr>
          <a:xfrm>
            <a:off x="777240" y="2011680"/>
            <a:ext cx="6309360" cy="4114800"/>
          </a:xfrm>
          <a:prstGeom prst="rect">
            <a:avLst/>
          </a:prstGeom>
          <a:noFill/>
          <a:ln/>
        </p:spPr>
        <p:txBody>
          <a:bodyPr wrap="square" lIns="0" tIns="0" rIns="0" bIns="0" rtlCol="0" anchor="t"/>
          <a:lstStyle/>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import pulp</a:t>
            </a:r>
            <a:endParaRPr lang="en-US" sz="1050" dirty="0"/>
          </a:p>
          <a:p>
            <a:pPr indent="0" marL="0">
              <a:lnSpc>
                <a:spcPct val="105000"/>
              </a:lnSpc>
              <a:buNone/>
            </a:pP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supply = [100, 150]           # Offres S1, S2</a:t>
            </a: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demand = [80, 120, 50]        # Demandes D1..D3</a:t>
            </a: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costs  = [[2, 3, 1], [5, 4, 8]]</a:t>
            </a:r>
            <a:endParaRPr lang="en-US" sz="1050" dirty="0"/>
          </a:p>
          <a:p>
            <a:pPr indent="0" marL="0">
              <a:lnSpc>
                <a:spcPct val="105000"/>
              </a:lnSpc>
              <a:buNone/>
            </a:pP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prob = pulp.LpProblem(</a:t>
            </a: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    'Transport_Minimisation', pulp.LpMinimize)</a:t>
            </a:r>
            <a:endParaRPr lang="en-US" sz="1050" dirty="0"/>
          </a:p>
          <a:p>
            <a:pPr indent="0" marL="0">
              <a:lnSpc>
                <a:spcPct val="105000"/>
              </a:lnSpc>
              <a:buNone/>
            </a:pP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x = pulp.LpVariable.dicts(</a:t>
            </a: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    'X', (range(2), range(3)), lowBound=0)</a:t>
            </a:r>
            <a:endParaRPr lang="en-US" sz="1050" dirty="0"/>
          </a:p>
          <a:p>
            <a:pPr indent="0" marL="0">
              <a:lnSpc>
                <a:spcPct val="105000"/>
              </a:lnSpc>
              <a:buNone/>
            </a:pP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prob += pulp.lpSum(</a:t>
            </a: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    costs[i][j] * x[i][j]</a:t>
            </a: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    for i in range(2) for j in range(3))</a:t>
            </a:r>
            <a:endParaRPr lang="en-US" sz="1050" dirty="0"/>
          </a:p>
          <a:p>
            <a:pPr indent="0" marL="0">
              <a:lnSpc>
                <a:spcPct val="105000"/>
              </a:lnSpc>
              <a:buNone/>
            </a:pP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for i in range(2):</a:t>
            </a: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    prob += pulp.lpSum(</a:t>
            </a: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        x[i][j] for j in range(3)) &lt;= supply[i]</a:t>
            </a:r>
            <a:endParaRPr lang="en-US" sz="1050" dirty="0"/>
          </a:p>
          <a:p>
            <a:pPr indent="0" marL="0">
              <a:lnSpc>
                <a:spcPct val="105000"/>
              </a:lnSpc>
              <a:buNone/>
            </a:pP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for j in range(3):</a:t>
            </a: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    prob += pulp.lpSum(</a:t>
            </a: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        x[i][j] for i in range(2)) == demand[j]</a:t>
            </a:r>
            <a:endParaRPr lang="en-US" sz="1050" dirty="0"/>
          </a:p>
          <a:p>
            <a:pPr indent="0" marL="0">
              <a:lnSpc>
                <a:spcPct val="105000"/>
              </a:lnSpc>
              <a:buNone/>
            </a:pPr>
            <a:endParaRPr lang="en-US" sz="1050" dirty="0"/>
          </a:p>
          <a:p>
            <a:pPr indent="0" marL="0">
              <a:lnSpc>
                <a:spcPct val="105000"/>
              </a:lnSpc>
              <a:buNone/>
            </a:pPr>
            <a:r>
              <a:rPr lang="en-US" sz="1050" dirty="0">
                <a:solidFill>
                  <a:srgbClr val="D7F5EF"/>
                </a:solidFill>
                <a:latin typeface="Courier New" pitchFamily="34" charset="0"/>
                <a:ea typeface="Courier New" pitchFamily="34" charset="-122"/>
                <a:cs typeface="Courier New" pitchFamily="34" charset="-120"/>
              </a:rPr>
              <a:t>prob.solve()</a:t>
            </a:r>
            <a:endParaRPr lang="en-US" sz="1050" dirty="0"/>
          </a:p>
        </p:txBody>
      </p:sp>
      <p:sp>
        <p:nvSpPr>
          <p:cNvPr id="7" name="Shape 5"/>
          <p:cNvSpPr/>
          <p:nvPr/>
        </p:nvSpPr>
        <p:spPr>
          <a:xfrm>
            <a:off x="7543800" y="1828800"/>
            <a:ext cx="4114800" cy="987552"/>
          </a:xfrm>
          <a:prstGeom prst="roundRect">
            <a:avLst>
              <a:gd name="adj" fmla="val 7407"/>
            </a:avLst>
          </a:prstGeom>
          <a:solidFill>
            <a:srgbClr val="028090"/>
          </a:solidFill>
          <a:ln/>
        </p:spPr>
      </p:sp>
      <p:sp>
        <p:nvSpPr>
          <p:cNvPr id="8" name="Text 6"/>
          <p:cNvSpPr/>
          <p:nvPr/>
        </p:nvSpPr>
        <p:spPr>
          <a:xfrm>
            <a:off x="7772400" y="1901952"/>
            <a:ext cx="36576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Données</a:t>
            </a:r>
            <a:endParaRPr lang="en-US" sz="1300" dirty="0"/>
          </a:p>
        </p:txBody>
      </p:sp>
      <p:sp>
        <p:nvSpPr>
          <p:cNvPr id="9" name="Text 7"/>
          <p:cNvSpPr/>
          <p:nvPr/>
        </p:nvSpPr>
        <p:spPr>
          <a:xfrm>
            <a:off x="7772400" y="2194560"/>
            <a:ext cx="3657600" cy="548640"/>
          </a:xfrm>
          <a:prstGeom prst="rect">
            <a:avLst/>
          </a:prstGeom>
          <a:noFill/>
          <a:ln/>
        </p:spPr>
        <p:txBody>
          <a:bodyPr wrap="square" lIns="0" tIns="0" rIns="0" bIns="0" rtlCol="0" anchor="ctr"/>
          <a:lstStyle/>
          <a:p>
            <a:pPr indent="0" marL="0">
              <a:buNone/>
            </a:pPr>
            <a:r>
              <a:rPr lang="en-US" sz="1100" dirty="0">
                <a:solidFill>
                  <a:srgbClr val="E6FBF7"/>
                </a:solidFill>
                <a:latin typeface="Calibri" pitchFamily="34" charset="0"/>
                <a:ea typeface="Calibri" pitchFamily="34" charset="-122"/>
                <a:cs typeface="Calibri" pitchFamily="34" charset="-120"/>
              </a:rPr>
              <a:t>Offres, demandes et coûts unitaires initialisés sous forme de listes.</a:t>
            </a:r>
            <a:endParaRPr lang="en-US" sz="1100" dirty="0"/>
          </a:p>
        </p:txBody>
      </p:sp>
      <p:sp>
        <p:nvSpPr>
          <p:cNvPr id="10" name="Shape 8"/>
          <p:cNvSpPr/>
          <p:nvPr/>
        </p:nvSpPr>
        <p:spPr>
          <a:xfrm>
            <a:off x="7543800" y="2944368"/>
            <a:ext cx="4114800" cy="987552"/>
          </a:xfrm>
          <a:prstGeom prst="roundRect">
            <a:avLst>
              <a:gd name="adj" fmla="val 7407"/>
            </a:avLst>
          </a:prstGeom>
          <a:solidFill>
            <a:srgbClr val="028090"/>
          </a:solidFill>
          <a:ln/>
        </p:spPr>
      </p:sp>
      <p:sp>
        <p:nvSpPr>
          <p:cNvPr id="11" name="Text 9"/>
          <p:cNvSpPr/>
          <p:nvPr/>
        </p:nvSpPr>
        <p:spPr>
          <a:xfrm>
            <a:off x="7772400" y="3017520"/>
            <a:ext cx="36576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Variables</a:t>
            </a:r>
            <a:endParaRPr lang="en-US" sz="1300" dirty="0"/>
          </a:p>
        </p:txBody>
      </p:sp>
      <p:sp>
        <p:nvSpPr>
          <p:cNvPr id="12" name="Text 10"/>
          <p:cNvSpPr/>
          <p:nvPr/>
        </p:nvSpPr>
        <p:spPr>
          <a:xfrm>
            <a:off x="7772400" y="3310128"/>
            <a:ext cx="3657600" cy="548640"/>
          </a:xfrm>
          <a:prstGeom prst="rect">
            <a:avLst/>
          </a:prstGeom>
          <a:noFill/>
          <a:ln/>
        </p:spPr>
        <p:txBody>
          <a:bodyPr wrap="square" lIns="0" tIns="0" rIns="0" bIns="0" rtlCol="0" anchor="ctr"/>
          <a:lstStyle/>
          <a:p>
            <a:pPr indent="0" marL="0">
              <a:buNone/>
            </a:pPr>
            <a:r>
              <a:rPr lang="en-US" sz="1100" dirty="0">
                <a:solidFill>
                  <a:srgbClr val="E6FBF7"/>
                </a:solidFill>
                <a:latin typeface="Calibri" pitchFamily="34" charset="0"/>
                <a:ea typeface="Calibri" pitchFamily="34" charset="-122"/>
                <a:cs typeface="Calibri" pitchFamily="34" charset="-120"/>
              </a:rPr>
              <a:t>x[i][j] : quantité transportée de la source i vers la destination j.</a:t>
            </a:r>
            <a:endParaRPr lang="en-US" sz="1100" dirty="0"/>
          </a:p>
        </p:txBody>
      </p:sp>
      <p:sp>
        <p:nvSpPr>
          <p:cNvPr id="13" name="Shape 11"/>
          <p:cNvSpPr/>
          <p:nvPr/>
        </p:nvSpPr>
        <p:spPr>
          <a:xfrm>
            <a:off x="7543800" y="4059936"/>
            <a:ext cx="4114800" cy="987552"/>
          </a:xfrm>
          <a:prstGeom prst="roundRect">
            <a:avLst>
              <a:gd name="adj" fmla="val 7407"/>
            </a:avLst>
          </a:prstGeom>
          <a:solidFill>
            <a:srgbClr val="028090"/>
          </a:solidFill>
          <a:ln/>
        </p:spPr>
      </p:sp>
      <p:sp>
        <p:nvSpPr>
          <p:cNvPr id="14" name="Text 12"/>
          <p:cNvSpPr/>
          <p:nvPr/>
        </p:nvSpPr>
        <p:spPr>
          <a:xfrm>
            <a:off x="7772400" y="4133088"/>
            <a:ext cx="36576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Objectif</a:t>
            </a:r>
            <a:endParaRPr lang="en-US" sz="1300" dirty="0"/>
          </a:p>
        </p:txBody>
      </p:sp>
      <p:sp>
        <p:nvSpPr>
          <p:cNvPr id="15" name="Text 13"/>
          <p:cNvSpPr/>
          <p:nvPr/>
        </p:nvSpPr>
        <p:spPr>
          <a:xfrm>
            <a:off x="7772400" y="4425696"/>
            <a:ext cx="3657600" cy="548640"/>
          </a:xfrm>
          <a:prstGeom prst="rect">
            <a:avLst/>
          </a:prstGeom>
          <a:noFill/>
          <a:ln/>
        </p:spPr>
        <p:txBody>
          <a:bodyPr wrap="square" lIns="0" tIns="0" rIns="0" bIns="0" rtlCol="0" anchor="ctr"/>
          <a:lstStyle/>
          <a:p>
            <a:pPr indent="0" marL="0">
              <a:buNone/>
            </a:pPr>
            <a:r>
              <a:rPr lang="en-US" sz="1100" dirty="0">
                <a:solidFill>
                  <a:srgbClr val="E6FBF7"/>
                </a:solidFill>
                <a:latin typeface="Calibri" pitchFamily="34" charset="0"/>
                <a:ea typeface="Calibri" pitchFamily="34" charset="-122"/>
                <a:cs typeface="Calibri" pitchFamily="34" charset="-120"/>
              </a:rPr>
              <a:t>Minimiser la somme des coûts de transport.</a:t>
            </a:r>
            <a:endParaRPr lang="en-US" sz="1100" dirty="0"/>
          </a:p>
        </p:txBody>
      </p:sp>
      <p:sp>
        <p:nvSpPr>
          <p:cNvPr id="16" name="Shape 14"/>
          <p:cNvSpPr/>
          <p:nvPr/>
        </p:nvSpPr>
        <p:spPr>
          <a:xfrm>
            <a:off x="7543800" y="5175504"/>
            <a:ext cx="4114800" cy="987552"/>
          </a:xfrm>
          <a:prstGeom prst="roundRect">
            <a:avLst>
              <a:gd name="adj" fmla="val 7407"/>
            </a:avLst>
          </a:prstGeom>
          <a:solidFill>
            <a:srgbClr val="028090"/>
          </a:solidFill>
          <a:ln/>
        </p:spPr>
      </p:sp>
      <p:sp>
        <p:nvSpPr>
          <p:cNvPr id="17" name="Text 15"/>
          <p:cNvSpPr/>
          <p:nvPr/>
        </p:nvSpPr>
        <p:spPr>
          <a:xfrm>
            <a:off x="7772400" y="5248656"/>
            <a:ext cx="36576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Contraintes</a:t>
            </a:r>
            <a:endParaRPr lang="en-US" sz="1300" dirty="0"/>
          </a:p>
        </p:txBody>
      </p:sp>
      <p:sp>
        <p:nvSpPr>
          <p:cNvPr id="18" name="Text 16"/>
          <p:cNvSpPr/>
          <p:nvPr/>
        </p:nvSpPr>
        <p:spPr>
          <a:xfrm>
            <a:off x="7772400" y="5541264"/>
            <a:ext cx="3657600" cy="548640"/>
          </a:xfrm>
          <a:prstGeom prst="rect">
            <a:avLst/>
          </a:prstGeom>
          <a:noFill/>
          <a:ln/>
        </p:spPr>
        <p:txBody>
          <a:bodyPr wrap="square" lIns="0" tIns="0" rIns="0" bIns="0" rtlCol="0" anchor="ctr"/>
          <a:lstStyle/>
          <a:p>
            <a:pPr indent="0" marL="0">
              <a:buNone/>
            </a:pPr>
            <a:r>
              <a:rPr lang="en-US" sz="1100" dirty="0">
                <a:solidFill>
                  <a:srgbClr val="E6FBF7"/>
                </a:solidFill>
                <a:latin typeface="Calibri" pitchFamily="34" charset="0"/>
                <a:ea typeface="Calibri" pitchFamily="34" charset="-122"/>
                <a:cs typeface="Calibri" pitchFamily="34" charset="-120"/>
              </a:rPr>
              <a:t>Respect des offres (≤) et satisfaction des demandes (=).</a:t>
            </a:r>
            <a:endParaRPr lang="en-US" sz="1100" dirty="0"/>
          </a:p>
        </p:txBody>
      </p:sp>
      <p:sp>
        <p:nvSpPr>
          <p:cNvPr id="19" name="Text 17"/>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900" dirty="0">
                <a:solidFill>
                  <a:srgbClr val="BFDCDC"/>
                </a:solidFill>
                <a:latin typeface="Calibri" pitchFamily="34" charset="0"/>
                <a:ea typeface="Calibri" pitchFamily="34" charset="-122"/>
                <a:cs typeface="Calibri" pitchFamily="34" charset="-120"/>
              </a:rPr>
              <a:t>Rapport RO — Recherche Opérationnelle</a:t>
            </a:r>
            <a:endParaRPr lang="en-US" sz="900" dirty="0"/>
          </a:p>
        </p:txBody>
      </p:sp>
      <p:sp>
        <p:nvSpPr>
          <p:cNvPr id="20" name="Text 1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BFDCD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RÉSULTATS</a:t>
            </a:r>
            <a:endParaRPr lang="en-US" sz="1300" dirty="0"/>
          </a:p>
        </p:txBody>
      </p:sp>
      <p:sp>
        <p:nvSpPr>
          <p:cNvPr id="3" name="Text 1"/>
          <p:cNvSpPr/>
          <p:nvPr/>
        </p:nvSpPr>
        <p:spPr>
          <a:xfrm>
            <a:off x="548640" y="777240"/>
            <a:ext cx="8229600" cy="640080"/>
          </a:xfrm>
          <a:prstGeom prst="rect">
            <a:avLst/>
          </a:prstGeom>
          <a:noFill/>
          <a:ln/>
        </p:spPr>
        <p:txBody>
          <a:bodyPr wrap="square" lIns="0" tIns="0" rIns="0" bIns="0" rtlCol="0" anchor="ctr"/>
          <a:lstStyle/>
          <a:p>
            <a:pPr indent="0" marL="0">
              <a:buNone/>
            </a:pPr>
            <a:r>
              <a:rPr lang="en-US" sz="3200" b="1" dirty="0">
                <a:solidFill>
                  <a:srgbClr val="1E2A2E"/>
                </a:solidFill>
                <a:latin typeface="Cambria" pitchFamily="34" charset="0"/>
                <a:ea typeface="Cambria" pitchFamily="34" charset="-122"/>
                <a:cs typeface="Cambria" pitchFamily="34" charset="-120"/>
              </a:rPr>
              <a:t>Résultats obtenus</a:t>
            </a:r>
            <a:endParaRPr lang="en-US" sz="3200" dirty="0"/>
          </a:p>
        </p:txBody>
      </p:sp>
      <p:sp>
        <p:nvSpPr>
          <p:cNvPr id="4" name="Text 2"/>
          <p:cNvSpPr/>
          <p:nvPr/>
        </p:nvSpPr>
        <p:spPr>
          <a:xfrm>
            <a:off x="548640" y="1554480"/>
            <a:ext cx="5486400" cy="320040"/>
          </a:xfrm>
          <a:prstGeom prst="rect">
            <a:avLst/>
          </a:prstGeom>
          <a:noFill/>
          <a:ln/>
        </p:spPr>
        <p:txBody>
          <a:bodyPr wrap="square" lIns="0" tIns="0" rIns="0" bIns="0" rtlCol="0" anchor="ctr"/>
          <a:lstStyle/>
          <a:p>
            <a:pPr indent="0" marL="0">
              <a:buNone/>
            </a:pPr>
            <a:r>
              <a:rPr lang="en-US" sz="1500" b="1" dirty="0">
                <a:solidFill>
                  <a:srgbClr val="1E2A2E"/>
                </a:solidFill>
                <a:latin typeface="Calibri" pitchFamily="34" charset="0"/>
                <a:ea typeface="Calibri" pitchFamily="34" charset="-122"/>
                <a:cs typeface="Calibri" pitchFamily="34" charset="-120"/>
              </a:rPr>
              <a:t>Solution optimale (Python / PuLP)</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5943600" cy="914400"/>
        </p:xfrm>
        <a:graphic>
          <a:graphicData uri="http://schemas.openxmlformats.org/drawingml/2006/table">
            <a:tbl>
              <a:tblPr/>
              <a:tblGrid>
                <a:gridCol w="1280160"/>
                <a:gridCol w="1188720"/>
                <a:gridCol w="1188720"/>
                <a:gridCol w="1188720"/>
                <a:gridCol w="1097280"/>
              </a:tblGrid>
              <a:tr h="502920">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D1</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D2</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D3</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Offre</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15C63"/>
                    </a:solidFill>
                  </a:tcPr>
                </a:tc>
              </a:tr>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S1</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28090"/>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S2</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028090"/>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r h="50292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Demande</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solidFill>
                      <a:srgbClr val="F4F7F7"/>
                    </a:solidFill>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D8E6E6"/>
                      </a:solidFill>
                      <a:prstDash val="solid"/>
                      <a:round/>
                      <a:headEnd type="none" w="med" len="med"/>
                      <a:tailEnd type="none" w="med" len="med"/>
                    </a:lnL>
                    <a:lnR w="12700" cap="flat" cmpd="sng" algn="ctr">
                      <a:solidFill>
                        <a:srgbClr val="D8E6E6"/>
                      </a:solidFill>
                      <a:prstDash val="solid"/>
                      <a:round/>
                      <a:headEnd type="none" w="med" len="med"/>
                      <a:tailEnd type="none" w="med" len="med"/>
                    </a:lnR>
                    <a:lnT w="12700" cap="flat" cmpd="sng" algn="ctr">
                      <a:solidFill>
                        <a:srgbClr val="D8E6E6"/>
                      </a:solidFill>
                      <a:prstDash val="solid"/>
                      <a:round/>
                      <a:headEnd type="none" w="med" len="med"/>
                      <a:tailEnd type="none" w="med" len="med"/>
                    </a:lnT>
                    <a:lnB w="12700" cap="flat" cmpd="sng" algn="ctr">
                      <a:solidFill>
                        <a:srgbClr val="D8E6E6"/>
                      </a:solidFill>
                      <a:prstDash val="solid"/>
                      <a:round/>
                      <a:headEnd type="none" w="med" len="med"/>
                      <a:tailEnd type="none" w="med" len="med"/>
                    </a:lnB>
                  </a:tcPr>
                </a:tc>
              </a:tr>
            </a:tbl>
          </a:graphicData>
        </a:graphic>
      </p:graphicFrame>
      <p:sp>
        <p:nvSpPr>
          <p:cNvPr id="6" name="Shape 3"/>
          <p:cNvSpPr/>
          <p:nvPr/>
        </p:nvSpPr>
        <p:spPr>
          <a:xfrm>
            <a:off x="548640" y="4160520"/>
            <a:ext cx="5943600" cy="914400"/>
          </a:xfrm>
          <a:prstGeom prst="roundRect">
            <a:avLst>
              <a:gd name="adj" fmla="val 50000"/>
            </a:avLst>
          </a:prstGeom>
          <a:solidFill>
            <a:srgbClr val="02C39A"/>
          </a:solidFill>
          <a:ln/>
        </p:spPr>
      </p:sp>
      <p:pic>
        <p:nvPicPr>
          <p:cNvPr id="7" name="Image 0" descr="icon_check.png">    </p:cNvPr>
          <p:cNvPicPr>
            <a:picLocks noChangeAspect="1"/>
          </p:cNvPicPr>
          <p:nvPr/>
        </p:nvPicPr>
        <p:blipFill>
          <a:blip r:embed="rId1"/>
          <a:stretch>
            <a:fillRect/>
          </a:stretch>
        </p:blipFill>
        <p:spPr>
          <a:xfrm>
            <a:off x="868680" y="4343400"/>
            <a:ext cx="502920" cy="502920"/>
          </a:xfrm>
          <a:prstGeom prst="rect">
            <a:avLst/>
          </a:prstGeom>
        </p:spPr>
      </p:pic>
      <p:sp>
        <p:nvSpPr>
          <p:cNvPr id="8" name="Text 4"/>
          <p:cNvSpPr/>
          <p:nvPr/>
        </p:nvSpPr>
        <p:spPr>
          <a:xfrm>
            <a:off x="1600200" y="4160520"/>
            <a:ext cx="4754880"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Coût total minimal Z = 780</a:t>
            </a:r>
            <a:endParaRPr lang="en-US" sz="2000" dirty="0"/>
          </a:p>
        </p:txBody>
      </p:sp>
      <p:sp>
        <p:nvSpPr>
          <p:cNvPr id="9" name="Shape 5"/>
          <p:cNvSpPr/>
          <p:nvPr/>
        </p:nvSpPr>
        <p:spPr>
          <a:xfrm>
            <a:off x="6766560" y="1554480"/>
            <a:ext cx="4846320" cy="3520440"/>
          </a:xfrm>
          <a:prstGeom prst="roundRect">
            <a:avLst>
              <a:gd name="adj" fmla="val 2597"/>
            </a:avLst>
          </a:prstGeom>
          <a:solidFill>
            <a:srgbClr val="F4F7F7"/>
          </a:solidFill>
          <a:ln/>
        </p:spPr>
      </p:sp>
      <p:sp>
        <p:nvSpPr>
          <p:cNvPr id="10" name="Text 6"/>
          <p:cNvSpPr/>
          <p:nvPr/>
        </p:nvSpPr>
        <p:spPr>
          <a:xfrm>
            <a:off x="7040880" y="1783080"/>
            <a:ext cx="4297680" cy="365760"/>
          </a:xfrm>
          <a:prstGeom prst="rect">
            <a:avLst/>
          </a:prstGeom>
          <a:noFill/>
          <a:ln/>
        </p:spPr>
        <p:txBody>
          <a:bodyPr wrap="square" lIns="0" tIns="0" rIns="0" bIns="0" rtlCol="0" anchor="ctr"/>
          <a:lstStyle/>
          <a:p>
            <a:pPr indent="0" marL="0">
              <a:buNone/>
            </a:pPr>
            <a:r>
              <a:rPr lang="en-US" sz="1600" b="1" dirty="0">
                <a:solidFill>
                  <a:srgbClr val="1E2A2E"/>
                </a:solidFill>
                <a:latin typeface="Calibri" pitchFamily="34" charset="0"/>
                <a:ea typeface="Calibri" pitchFamily="34" charset="-122"/>
                <a:cs typeface="Calibri" pitchFamily="34" charset="-120"/>
              </a:rPr>
              <a:t>Interprétation</a:t>
            </a:r>
            <a:endParaRPr lang="en-US" sz="1600" dirty="0"/>
          </a:p>
        </p:txBody>
      </p:sp>
      <p:sp>
        <p:nvSpPr>
          <p:cNvPr id="11" name="Text 7"/>
          <p:cNvSpPr/>
          <p:nvPr/>
        </p:nvSpPr>
        <p:spPr>
          <a:xfrm>
            <a:off x="7040880" y="2240280"/>
            <a:ext cx="429768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3A4749"/>
                </a:solidFill>
                <a:latin typeface="Calibri" pitchFamily="34" charset="0"/>
                <a:ea typeface="Calibri" pitchFamily="34" charset="-122"/>
                <a:cs typeface="Calibri" pitchFamily="34" charset="-120"/>
              </a:rPr>
              <a:t>Toutes les contraintes d'offre et de demande sont respectées.</a:t>
            </a:r>
            <a:endParaRPr lang="en-US" sz="1300" dirty="0"/>
          </a:p>
          <a:p>
            <a:pPr marL="342900" indent="-342900">
              <a:spcAft>
                <a:spcPts val="1000"/>
              </a:spcAft>
              <a:buSzPct val="100000"/>
              <a:buChar char="•"/>
            </a:pPr>
            <a:r>
              <a:rPr lang="en-US" sz="1300" dirty="0">
                <a:solidFill>
                  <a:srgbClr val="3A4749"/>
                </a:solidFill>
                <a:latin typeface="Calibri" pitchFamily="34" charset="0"/>
                <a:ea typeface="Calibri" pitchFamily="34" charset="-122"/>
                <a:cs typeface="Calibri" pitchFamily="34" charset="-120"/>
              </a:rPr>
              <a:t>Les quantités allouées sont toutes positives.</a:t>
            </a:r>
            <a:endParaRPr lang="en-US" sz="1300" dirty="0"/>
          </a:p>
          <a:p>
            <a:pPr marL="342900" indent="-342900">
              <a:spcAft>
                <a:spcPts val="1000"/>
              </a:spcAft>
              <a:buSzPct val="100000"/>
              <a:buChar char="•"/>
            </a:pPr>
            <a:r>
              <a:rPr lang="en-US" sz="1300" dirty="0">
                <a:solidFill>
                  <a:srgbClr val="3A4749"/>
                </a:solidFill>
                <a:latin typeface="Calibri" pitchFamily="34" charset="0"/>
                <a:ea typeface="Calibri" pitchFamily="34" charset="-122"/>
                <a:cs typeface="Calibri" pitchFamily="34" charset="-120"/>
              </a:rPr>
              <a:t>Aucune contrainte n'est violée.</a:t>
            </a:r>
            <a:endParaRPr lang="en-US" sz="1300" dirty="0"/>
          </a:p>
          <a:p>
            <a:pPr marL="342900" indent="-342900">
              <a:buSzPct val="100000"/>
              <a:buChar char="•"/>
            </a:pPr>
            <a:r>
              <a:rPr lang="en-US" sz="1300" b="1" dirty="0">
                <a:solidFill>
                  <a:srgbClr val="3A4749"/>
                </a:solidFill>
                <a:latin typeface="Calibri" pitchFamily="34" charset="0"/>
                <a:ea typeface="Calibri" pitchFamily="34" charset="-122"/>
                <a:cs typeface="Calibri" pitchFamily="34" charset="-120"/>
              </a:rPr>
              <a:t>La solution est donc faisable et optimale.</a:t>
            </a:r>
            <a:endParaRPr lang="en-US" sz="1300" dirty="0"/>
          </a:p>
        </p:txBody>
      </p:sp>
      <p:sp>
        <p:nvSpPr>
          <p:cNvPr id="12" name="Text 8"/>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900" dirty="0">
                <a:solidFill>
                  <a:srgbClr val="7A9A9C"/>
                </a:solidFill>
                <a:latin typeface="Calibri" pitchFamily="34" charset="0"/>
                <a:ea typeface="Calibri" pitchFamily="34" charset="-122"/>
                <a:cs typeface="Calibri" pitchFamily="34" charset="-120"/>
              </a:rPr>
              <a:t>Rapport RO — Recherche Opérationnelle</a:t>
            </a:r>
            <a:endParaRPr lang="en-US" sz="900" dirty="0"/>
          </a:p>
        </p:txBody>
      </p:sp>
      <p:sp>
        <p:nvSpPr>
          <p:cNvPr id="13" name="Text 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7A9A9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E. PERSPECTIVE</a:t>
            </a:r>
            <a:endParaRPr lang="en-US" sz="1300" dirty="0"/>
          </a:p>
        </p:txBody>
      </p:sp>
      <p:sp>
        <p:nvSpPr>
          <p:cNvPr id="3" name="Text 1"/>
          <p:cNvSpPr/>
          <p:nvPr/>
        </p:nvSpPr>
        <p:spPr>
          <a:xfrm>
            <a:off x="548640" y="777240"/>
            <a:ext cx="9144000" cy="640080"/>
          </a:xfrm>
          <a:prstGeom prst="rect">
            <a:avLst/>
          </a:prstGeom>
          <a:noFill/>
          <a:ln/>
        </p:spPr>
        <p:txBody>
          <a:bodyPr wrap="square" lIns="0" tIns="0" rIns="0" bIns="0" rtlCol="0" anchor="ctr"/>
          <a:lstStyle/>
          <a:p>
            <a:pPr indent="0" marL="0">
              <a:buNone/>
            </a:pPr>
            <a:r>
              <a:rPr lang="en-US" sz="3000" b="1" dirty="0">
                <a:solidFill>
                  <a:srgbClr val="1E2A2E"/>
                </a:solidFill>
                <a:latin typeface="Cambria" pitchFamily="34" charset="0"/>
                <a:ea typeface="Cambria" pitchFamily="34" charset="-122"/>
                <a:cs typeface="Cambria" pitchFamily="34" charset="-120"/>
              </a:rPr>
              <a:t>Lien avec le problème VRP</a:t>
            </a:r>
            <a:endParaRPr lang="en-US" sz="3000" dirty="0"/>
          </a:p>
        </p:txBody>
      </p:sp>
      <p:sp>
        <p:nvSpPr>
          <p:cNvPr id="4" name="Text 2"/>
          <p:cNvSpPr/>
          <p:nvPr/>
        </p:nvSpPr>
        <p:spPr>
          <a:xfrm>
            <a:off x="548640" y="1508760"/>
            <a:ext cx="10515600" cy="457200"/>
          </a:xfrm>
          <a:prstGeom prst="rect">
            <a:avLst/>
          </a:prstGeom>
          <a:noFill/>
          <a:ln/>
        </p:spPr>
        <p:txBody>
          <a:bodyPr wrap="square" lIns="0" tIns="0" rIns="0" bIns="0" rtlCol="0" anchor="ctr"/>
          <a:lstStyle/>
          <a:p>
            <a:pPr indent="0" marL="0">
              <a:buNone/>
            </a:pPr>
            <a:r>
              <a:rPr lang="en-US" sz="1500" dirty="0">
                <a:solidFill>
                  <a:srgbClr val="3A4749"/>
                </a:solidFill>
                <a:latin typeface="Calibri" pitchFamily="34" charset="0"/>
                <a:ea typeface="Calibri" pitchFamily="34" charset="-122"/>
                <a:cs typeface="Calibri" pitchFamily="34" charset="-120"/>
              </a:rPr>
              <a:t>Le problème de transport constitue une base pour le VRP (Vehicle Routing Problem).</a:t>
            </a:r>
            <a:endParaRPr lang="en-US" sz="1500" dirty="0"/>
          </a:p>
        </p:txBody>
      </p:sp>
      <p:sp>
        <p:nvSpPr>
          <p:cNvPr id="5" name="Shape 3"/>
          <p:cNvSpPr/>
          <p:nvPr/>
        </p:nvSpPr>
        <p:spPr>
          <a:xfrm>
            <a:off x="548640" y="2148840"/>
            <a:ext cx="5212080" cy="3291840"/>
          </a:xfrm>
          <a:prstGeom prst="roundRect">
            <a:avLst>
              <a:gd name="adj" fmla="val 2778"/>
            </a:avLst>
          </a:prstGeom>
          <a:solidFill>
            <a:srgbClr val="028090"/>
          </a:solidFill>
          <a:ln/>
        </p:spPr>
      </p:sp>
      <p:pic>
        <p:nvPicPr>
          <p:cNvPr id="6" name="Image 0" descr="icon_truck.png">    </p:cNvPr>
          <p:cNvPicPr>
            <a:picLocks noChangeAspect="1"/>
          </p:cNvPicPr>
          <p:nvPr/>
        </p:nvPicPr>
        <p:blipFill>
          <a:blip r:embed="rId1"/>
          <a:stretch>
            <a:fillRect/>
          </a:stretch>
        </p:blipFill>
        <p:spPr>
          <a:xfrm>
            <a:off x="868680" y="2377440"/>
            <a:ext cx="548640" cy="548640"/>
          </a:xfrm>
          <a:prstGeom prst="rect">
            <a:avLst/>
          </a:prstGeom>
        </p:spPr>
      </p:pic>
      <p:sp>
        <p:nvSpPr>
          <p:cNvPr id="7" name="Text 4"/>
          <p:cNvSpPr/>
          <p:nvPr/>
        </p:nvSpPr>
        <p:spPr>
          <a:xfrm>
            <a:off x="1554480" y="2423160"/>
            <a:ext cx="402336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Problème de transport</a:t>
            </a:r>
            <a:endParaRPr lang="en-US" sz="1700" dirty="0"/>
          </a:p>
        </p:txBody>
      </p:sp>
      <p:sp>
        <p:nvSpPr>
          <p:cNvPr id="8" name="Text 5"/>
          <p:cNvSpPr/>
          <p:nvPr/>
        </p:nvSpPr>
        <p:spPr>
          <a:xfrm>
            <a:off x="868680" y="3108960"/>
            <a:ext cx="4572000" cy="914400"/>
          </a:xfrm>
          <a:prstGeom prst="rect">
            <a:avLst/>
          </a:prstGeom>
          <a:noFill/>
          <a:ln/>
        </p:spPr>
        <p:txBody>
          <a:bodyPr wrap="square" lIns="0" tIns="0" rIns="0" bIns="0" rtlCol="0" anchor="ctr"/>
          <a:lstStyle/>
          <a:p>
            <a:pPr indent="0" marL="0">
              <a:buNone/>
            </a:pPr>
            <a:r>
              <a:rPr lang="en-US" sz="1300" dirty="0">
                <a:solidFill>
                  <a:srgbClr val="EAFBF6"/>
                </a:solidFill>
                <a:latin typeface="Calibri" pitchFamily="34" charset="0"/>
                <a:ea typeface="Calibri" pitchFamily="34" charset="-122"/>
                <a:cs typeface="Calibri" pitchFamily="34" charset="-120"/>
              </a:rPr>
              <a:t>Se concentre sur la répartition des quantités entre sources et destinations, au moindre coût.</a:t>
            </a:r>
            <a:endParaRPr lang="en-US" sz="1300" dirty="0"/>
          </a:p>
        </p:txBody>
      </p:sp>
      <p:sp>
        <p:nvSpPr>
          <p:cNvPr id="9" name="Shape 6"/>
          <p:cNvSpPr/>
          <p:nvPr/>
        </p:nvSpPr>
        <p:spPr>
          <a:xfrm>
            <a:off x="5623560" y="3520440"/>
            <a:ext cx="640080" cy="640080"/>
          </a:xfrm>
          <a:prstGeom prst="ellipse">
            <a:avLst/>
          </a:prstGeom>
          <a:solidFill>
            <a:srgbClr val="FFFFFF"/>
          </a:solidFill>
          <a:ln/>
        </p:spPr>
      </p:sp>
      <p:sp>
        <p:nvSpPr>
          <p:cNvPr id="10" name="Text 7"/>
          <p:cNvSpPr/>
          <p:nvPr/>
        </p:nvSpPr>
        <p:spPr>
          <a:xfrm>
            <a:off x="5623560" y="3520440"/>
            <a:ext cx="640080" cy="640080"/>
          </a:xfrm>
          <a:prstGeom prst="rect">
            <a:avLst/>
          </a:prstGeom>
          <a:noFill/>
          <a:ln/>
        </p:spPr>
        <p:txBody>
          <a:bodyPr wrap="square" lIns="0" tIns="0" rIns="0" bIns="0" rtlCol="0" anchor="ctr"/>
          <a:lstStyle/>
          <a:p>
            <a:pPr algn="ctr" indent="0" marL="0">
              <a:buNone/>
            </a:pPr>
            <a:r>
              <a:rPr lang="en-US" sz="2200" b="1" dirty="0">
                <a:solidFill>
                  <a:srgbClr val="015C63"/>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6355080" y="2148840"/>
            <a:ext cx="5212080" cy="3291840"/>
          </a:xfrm>
          <a:prstGeom prst="roundRect">
            <a:avLst>
              <a:gd name="adj" fmla="val 2778"/>
            </a:avLst>
          </a:prstGeom>
          <a:solidFill>
            <a:srgbClr val="015C63"/>
          </a:solidFill>
          <a:ln/>
        </p:spPr>
      </p:sp>
      <p:pic>
        <p:nvPicPr>
          <p:cNvPr id="12" name="Image 1" descr="icon_route.png">    </p:cNvPr>
          <p:cNvPicPr>
            <a:picLocks noChangeAspect="1"/>
          </p:cNvPicPr>
          <p:nvPr/>
        </p:nvPicPr>
        <p:blipFill>
          <a:blip r:embed="rId2"/>
          <a:stretch>
            <a:fillRect/>
          </a:stretch>
        </p:blipFill>
        <p:spPr>
          <a:xfrm>
            <a:off x="6675120" y="2377440"/>
            <a:ext cx="548640" cy="548640"/>
          </a:xfrm>
          <a:prstGeom prst="rect">
            <a:avLst/>
          </a:prstGeom>
        </p:spPr>
      </p:pic>
      <p:sp>
        <p:nvSpPr>
          <p:cNvPr id="13" name="Text 9"/>
          <p:cNvSpPr/>
          <p:nvPr/>
        </p:nvSpPr>
        <p:spPr>
          <a:xfrm>
            <a:off x="7360920" y="2423160"/>
            <a:ext cx="402336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Problème VRP</a:t>
            </a:r>
            <a:endParaRPr lang="en-US" sz="1700" dirty="0"/>
          </a:p>
        </p:txBody>
      </p:sp>
      <p:sp>
        <p:nvSpPr>
          <p:cNvPr id="14" name="Text 10"/>
          <p:cNvSpPr/>
          <p:nvPr/>
        </p:nvSpPr>
        <p:spPr>
          <a:xfrm>
            <a:off x="6675120" y="3108960"/>
            <a:ext cx="4572000" cy="1463040"/>
          </a:xfrm>
          <a:prstGeom prst="rect">
            <a:avLst/>
          </a:prstGeom>
          <a:noFill/>
          <a:ln/>
        </p:spPr>
        <p:txBody>
          <a:bodyPr wrap="square" lIns="0" tIns="0" rIns="0" bIns="0" rtlCol="0" anchor="ctr"/>
          <a:lstStyle/>
          <a:p>
            <a:pPr indent="0" marL="0">
              <a:buNone/>
            </a:pPr>
            <a:r>
              <a:rPr lang="en-US" sz="1300" dirty="0">
                <a:solidFill>
                  <a:srgbClr val="CFEDEA"/>
                </a:solidFill>
                <a:latin typeface="Calibri" pitchFamily="34" charset="0"/>
                <a:ea typeface="Calibri" pitchFamily="34" charset="-122"/>
                <a:cs typeface="Calibri" pitchFamily="34" charset="-120"/>
              </a:rPr>
              <a:t>Ajoute la notion d'ordre de visite aux quantités transportées, ce qui rend le problème plus complexe et plus proche des situations réelles.</a:t>
            </a:r>
            <a:endParaRPr lang="en-US" sz="1300" dirty="0"/>
          </a:p>
        </p:txBody>
      </p:sp>
      <p:sp>
        <p:nvSpPr>
          <p:cNvPr id="15" name="Text 11"/>
          <p:cNvSpPr/>
          <p:nvPr/>
        </p:nvSpPr>
        <p:spPr>
          <a:xfrm>
            <a:off x="548640" y="5623560"/>
            <a:ext cx="10881360" cy="640080"/>
          </a:xfrm>
          <a:prstGeom prst="rect">
            <a:avLst/>
          </a:prstGeom>
          <a:noFill/>
          <a:ln/>
        </p:spPr>
        <p:txBody>
          <a:bodyPr wrap="square" lIns="0" tIns="0" rIns="0" bIns="0" rtlCol="0" anchor="ctr"/>
          <a:lstStyle/>
          <a:p>
            <a:pPr indent="0" marL="0">
              <a:buNone/>
            </a:pPr>
            <a:r>
              <a:rPr lang="en-US" sz="1200" i="1" dirty="0">
                <a:solidFill>
                  <a:srgbClr val="5A6B6D"/>
                </a:solidFill>
                <a:latin typeface="Calibri" pitchFamily="34" charset="0"/>
                <a:ea typeface="Calibri" pitchFamily="34" charset="-122"/>
                <a:cs typeface="Calibri" pitchFamily="34" charset="-120"/>
              </a:rPr>
              <a:t>Perspective : les méthodes heuristiques (comme dans le VRP) permettent de traiter des cas réels de tournées de véhicules, incluant les fenêtres de temps et les capacités.</a:t>
            </a:r>
            <a:endParaRPr lang="en-US" sz="1200" dirty="0"/>
          </a:p>
        </p:txBody>
      </p:sp>
      <p:sp>
        <p:nvSpPr>
          <p:cNvPr id="16" name="Text 12"/>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900" dirty="0">
                <a:solidFill>
                  <a:srgbClr val="7A9A9C"/>
                </a:solidFill>
                <a:latin typeface="Calibri" pitchFamily="34" charset="0"/>
                <a:ea typeface="Calibri" pitchFamily="34" charset="-122"/>
                <a:cs typeface="Calibri" pitchFamily="34" charset="-120"/>
              </a:rPr>
              <a:t>Rapport RO — Recherche Opérationnelle</a:t>
            </a:r>
            <a:endParaRPr lang="en-US" sz="900" dirty="0"/>
          </a:p>
        </p:txBody>
      </p:sp>
      <p:sp>
        <p:nvSpPr>
          <p:cNvPr id="17" name="Text 13"/>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7A9A9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15C63"/>
        </a:solidFill>
      </p:bgPr>
    </p:bg>
    <p:spTree>
      <p:nvGrpSpPr>
        <p:cNvPr id="1" name=""/>
        <p:cNvGrpSpPr/>
        <p:nvPr/>
      </p:nvGrpSpPr>
      <p:grpSpPr>
        <a:xfrm>
          <a:off x="0" y="0"/>
          <a:ext cx="0" cy="0"/>
          <a:chOff x="0" y="0"/>
          <a:chExt cx="0" cy="0"/>
        </a:xfrm>
      </p:grpSpPr>
      <p:sp>
        <p:nvSpPr>
          <p:cNvPr id="2" name="Shape 0"/>
          <p:cNvSpPr/>
          <p:nvPr/>
        </p:nvSpPr>
        <p:spPr>
          <a:xfrm>
            <a:off x="-1097280" y="4389120"/>
            <a:ext cx="3840480" cy="3840480"/>
          </a:xfrm>
          <a:prstGeom prst="ellipse">
            <a:avLst/>
          </a:prstGeom>
          <a:solidFill>
            <a:srgbClr val="028090">
              <a:alpha val="45000"/>
            </a:srgbClr>
          </a:solidFill>
          <a:ln/>
        </p:spPr>
      </p:sp>
      <p:sp>
        <p:nvSpPr>
          <p:cNvPr id="3" name="Text 1"/>
          <p:cNvSpPr/>
          <p:nvPr/>
        </p:nvSpPr>
        <p:spPr>
          <a:xfrm>
            <a:off x="640080" y="822960"/>
            <a:ext cx="7315200" cy="365760"/>
          </a:xfrm>
          <a:prstGeom prst="rect">
            <a:avLst/>
          </a:prstGeom>
          <a:noFill/>
          <a:ln/>
        </p:spPr>
        <p:txBody>
          <a:bodyPr wrap="square" lIns="0" tIns="0" rIns="0" bIns="0" rtlCol="0" anchor="ctr"/>
          <a:lstStyle/>
          <a:p>
            <a:pPr indent="0" marL="0">
              <a:buNone/>
            </a:pPr>
            <a:r>
              <a:rPr lang="en-US" sz="1300" b="1" spc="200" kern="0" dirty="0">
                <a:solidFill>
                  <a:srgbClr val="9FCFCD"/>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94360" y="1234440"/>
            <a:ext cx="1005840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Ce que ce travail met en évidence</a:t>
            </a:r>
            <a:endParaRPr lang="en-US" sz="3200" dirty="0"/>
          </a:p>
        </p:txBody>
      </p:sp>
      <p:sp>
        <p:nvSpPr>
          <p:cNvPr id="5" name="Shape 3"/>
          <p:cNvSpPr/>
          <p:nvPr/>
        </p:nvSpPr>
        <p:spPr>
          <a:xfrm>
            <a:off x="640080" y="2468880"/>
            <a:ext cx="502920" cy="502920"/>
          </a:xfrm>
          <a:prstGeom prst="ellipse">
            <a:avLst/>
          </a:prstGeom>
          <a:solidFill>
            <a:srgbClr val="00A896"/>
          </a:solidFill>
          <a:ln/>
        </p:spPr>
      </p:sp>
      <p:pic>
        <p:nvPicPr>
          <p:cNvPr id="6" name="Image 0" descr="icon_calc.png">    </p:cNvPr>
          <p:cNvPicPr>
            <a:picLocks noChangeAspect="1"/>
          </p:cNvPicPr>
          <p:nvPr/>
        </p:nvPicPr>
        <p:blipFill>
          <a:blip r:embed="rId1"/>
          <a:stretch>
            <a:fillRect/>
          </a:stretch>
        </p:blipFill>
        <p:spPr>
          <a:xfrm>
            <a:off x="749808" y="2578608"/>
            <a:ext cx="283464" cy="283464"/>
          </a:xfrm>
          <a:prstGeom prst="rect">
            <a:avLst/>
          </a:prstGeom>
        </p:spPr>
      </p:pic>
      <p:sp>
        <p:nvSpPr>
          <p:cNvPr id="7" name="Text 4"/>
          <p:cNvSpPr/>
          <p:nvPr/>
        </p:nvSpPr>
        <p:spPr>
          <a:xfrm>
            <a:off x="1371600" y="2423160"/>
            <a:ext cx="9601200" cy="731520"/>
          </a:xfrm>
          <a:prstGeom prst="rect">
            <a:avLst/>
          </a:prstGeom>
          <a:noFill/>
          <a:ln/>
        </p:spPr>
        <p:txBody>
          <a:bodyPr wrap="square" lIns="0" tIns="0" rIns="0" bIns="0" rtlCol="0" anchor="ctr"/>
          <a:lstStyle/>
          <a:p>
            <a:pPr indent="0" marL="0">
              <a:buNone/>
            </a:pPr>
            <a:r>
              <a:rPr lang="en-US" sz="1500" dirty="0">
                <a:solidFill>
                  <a:srgbClr val="E6FBF7"/>
                </a:solidFill>
                <a:latin typeface="Calibri" pitchFamily="34" charset="0"/>
                <a:ea typeface="Calibri" pitchFamily="34" charset="-122"/>
                <a:cs typeface="Calibri" pitchFamily="34" charset="-120"/>
              </a:rPr>
              <a:t>Des méthodes manuelles (Nord-Ouest, moindre coût, MODI) pour construire et vérifier une solution.</a:t>
            </a:r>
            <a:endParaRPr lang="en-US" sz="1500" dirty="0"/>
          </a:p>
        </p:txBody>
      </p:sp>
      <p:sp>
        <p:nvSpPr>
          <p:cNvPr id="8" name="Shape 5"/>
          <p:cNvSpPr/>
          <p:nvPr/>
        </p:nvSpPr>
        <p:spPr>
          <a:xfrm>
            <a:off x="640080" y="3337560"/>
            <a:ext cx="502920" cy="502920"/>
          </a:xfrm>
          <a:prstGeom prst="ellipse">
            <a:avLst/>
          </a:prstGeom>
          <a:solidFill>
            <a:srgbClr val="00A896"/>
          </a:solidFill>
          <a:ln/>
        </p:spPr>
      </p:sp>
      <p:pic>
        <p:nvPicPr>
          <p:cNvPr id="9" name="Image 1" descr="icon_code.png">    </p:cNvPr>
          <p:cNvPicPr>
            <a:picLocks noChangeAspect="1"/>
          </p:cNvPicPr>
          <p:nvPr/>
        </p:nvPicPr>
        <p:blipFill>
          <a:blip r:embed="rId2"/>
          <a:stretch>
            <a:fillRect/>
          </a:stretch>
        </p:blipFill>
        <p:spPr>
          <a:xfrm>
            <a:off x="749808" y="3447288"/>
            <a:ext cx="283464" cy="283464"/>
          </a:xfrm>
          <a:prstGeom prst="rect">
            <a:avLst/>
          </a:prstGeom>
        </p:spPr>
      </p:pic>
      <p:sp>
        <p:nvSpPr>
          <p:cNvPr id="10" name="Text 6"/>
          <p:cNvSpPr/>
          <p:nvPr/>
        </p:nvSpPr>
        <p:spPr>
          <a:xfrm>
            <a:off x="1371600" y="3291840"/>
            <a:ext cx="9601200" cy="731520"/>
          </a:xfrm>
          <a:prstGeom prst="rect">
            <a:avLst/>
          </a:prstGeom>
          <a:noFill/>
          <a:ln/>
        </p:spPr>
        <p:txBody>
          <a:bodyPr wrap="square" lIns="0" tIns="0" rIns="0" bIns="0" rtlCol="0" anchor="ctr"/>
          <a:lstStyle/>
          <a:p>
            <a:pPr indent="0" marL="0">
              <a:buNone/>
            </a:pPr>
            <a:r>
              <a:rPr lang="en-US" sz="1500" dirty="0">
                <a:solidFill>
                  <a:srgbClr val="E6FBF7"/>
                </a:solidFill>
                <a:latin typeface="Calibri" pitchFamily="34" charset="0"/>
                <a:ea typeface="Calibri" pitchFamily="34" charset="-122"/>
                <a:cs typeface="Calibri" pitchFamily="34" charset="-120"/>
              </a:rPr>
              <a:t>Un outil informatique (Python / PuLP) pour résoudre directement et fiablement le problème.</a:t>
            </a:r>
            <a:endParaRPr lang="en-US" sz="1500" dirty="0"/>
          </a:p>
        </p:txBody>
      </p:sp>
      <p:sp>
        <p:nvSpPr>
          <p:cNvPr id="11" name="Shape 7"/>
          <p:cNvSpPr/>
          <p:nvPr/>
        </p:nvSpPr>
        <p:spPr>
          <a:xfrm>
            <a:off x="640080" y="4206240"/>
            <a:ext cx="502920" cy="502920"/>
          </a:xfrm>
          <a:prstGeom prst="ellipse">
            <a:avLst/>
          </a:prstGeom>
          <a:solidFill>
            <a:srgbClr val="00A896"/>
          </a:solidFill>
          <a:ln/>
        </p:spPr>
      </p:sp>
      <p:pic>
        <p:nvPicPr>
          <p:cNvPr id="12" name="Image 2" descr="icon_route.png">    </p:cNvPr>
          <p:cNvPicPr>
            <a:picLocks noChangeAspect="1"/>
          </p:cNvPicPr>
          <p:nvPr/>
        </p:nvPicPr>
        <p:blipFill>
          <a:blip r:embed="rId3"/>
          <a:stretch>
            <a:fillRect/>
          </a:stretch>
        </p:blipFill>
        <p:spPr>
          <a:xfrm>
            <a:off x="749808" y="4315968"/>
            <a:ext cx="283464" cy="283464"/>
          </a:xfrm>
          <a:prstGeom prst="rect">
            <a:avLst/>
          </a:prstGeom>
        </p:spPr>
      </p:pic>
      <p:sp>
        <p:nvSpPr>
          <p:cNvPr id="13" name="Text 8"/>
          <p:cNvSpPr/>
          <p:nvPr/>
        </p:nvSpPr>
        <p:spPr>
          <a:xfrm>
            <a:off x="1371600" y="4160520"/>
            <a:ext cx="9601200" cy="731520"/>
          </a:xfrm>
          <a:prstGeom prst="rect">
            <a:avLst/>
          </a:prstGeom>
          <a:noFill/>
          <a:ln/>
        </p:spPr>
        <p:txBody>
          <a:bodyPr wrap="square" lIns="0" tIns="0" rIns="0" bIns="0" rtlCol="0" anchor="ctr"/>
          <a:lstStyle/>
          <a:p>
            <a:pPr indent="0" marL="0">
              <a:buNone/>
            </a:pPr>
            <a:r>
              <a:rPr lang="en-US" sz="1500" dirty="0">
                <a:solidFill>
                  <a:srgbClr val="E6FBF7"/>
                </a:solidFill>
                <a:latin typeface="Calibri" pitchFamily="34" charset="0"/>
                <a:ea typeface="Calibri" pitchFamily="34" charset="-122"/>
                <a:cs typeface="Calibri" pitchFamily="34" charset="-120"/>
              </a:rPr>
              <a:t>Une ouverture vers le VRP, plus proche des problématiques réelles de logistique.</a:t>
            </a:r>
            <a:endParaRPr lang="en-US" sz="1500" dirty="0"/>
          </a:p>
        </p:txBody>
      </p:sp>
      <p:sp>
        <p:nvSpPr>
          <p:cNvPr id="14" name="Text 9"/>
          <p:cNvSpPr/>
          <p:nvPr/>
        </p:nvSpPr>
        <p:spPr>
          <a:xfrm>
            <a:off x="640080" y="5394960"/>
            <a:ext cx="10241280" cy="731520"/>
          </a:xfrm>
          <a:prstGeom prst="rect">
            <a:avLst/>
          </a:prstGeom>
          <a:noFill/>
          <a:ln/>
        </p:spPr>
        <p:txBody>
          <a:bodyPr wrap="square" lIns="0" tIns="0" rIns="0" bIns="0" rtlCol="0" anchor="ctr"/>
          <a:lstStyle/>
          <a:p>
            <a:pPr indent="0" marL="0">
              <a:buNone/>
            </a:pPr>
            <a:r>
              <a:rPr lang="en-US" sz="1400" i="1" dirty="0">
                <a:solidFill>
                  <a:srgbClr val="BFE3E1"/>
                </a:solidFill>
                <a:latin typeface="Calibri" pitchFamily="34" charset="0"/>
                <a:ea typeface="Calibri" pitchFamily="34" charset="-122"/>
                <a:cs typeface="Calibri" pitchFamily="34" charset="-120"/>
              </a:rPr>
              <a:t>Ce travail met ainsi en évidence l'apport de la recherche opérationnelle dans la résolution de problèmes réels de transport et de logistique.</a:t>
            </a:r>
            <a:endParaRPr lang="en-US" sz="1400" dirty="0"/>
          </a:p>
        </p:txBody>
      </p:sp>
      <p:sp>
        <p:nvSpPr>
          <p:cNvPr id="15" name="Text 10"/>
          <p:cNvSpPr/>
          <p:nvPr/>
        </p:nvSpPr>
        <p:spPr>
          <a:xfrm>
            <a:off x="640080" y="6172200"/>
            <a:ext cx="7315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Merci de votre attention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RO - Optimisation du Transport</dc:title>
  <dc:subject>PptxGenJS Presentation</dc:subject>
  <dc:creator>LIU Mauritanie</dc:creator>
  <cp:lastModifiedBy>LIU Mauritanie</cp:lastModifiedBy>
  <cp:revision>1</cp:revision>
  <dcterms:created xsi:type="dcterms:W3CDTF">2026-07-05T20:50:11Z</dcterms:created>
  <dcterms:modified xsi:type="dcterms:W3CDTF">2026-07-05T20:50:11Z</dcterms:modified>
</cp:coreProperties>
</file>